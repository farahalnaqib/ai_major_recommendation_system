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Inter" charset="1" panose="02000503000000020004"/>
      <p:regular r:id="rId18"/>
    </p:embeddedFon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Poppins Italics" charset="1" panose="00000500000000000000"/>
      <p:regular r:id="rId29"/>
    </p:embeddedFont>
    <p:embeddedFont>
      <p:font typeface="Raleway Bold" charset="1" panose="00000000000000000000"/>
      <p:regular r:id="rId30"/>
    </p:embeddedFont>
    <p:embeddedFont>
      <p:font typeface="Raleway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.jpe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HIG9EBhqk.mp4" Type="http://schemas.microsoft.com/office/2007/relationships/media"/><Relationship Id="rId2" Target="../notesSlides/notesSlide6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2.jpeg" Type="http://schemas.openxmlformats.org/officeDocument/2006/relationships/image"/><Relationship Id="rId8" Target="../media/image30.jpeg" Type="http://schemas.openxmlformats.org/officeDocument/2006/relationships/image"/><Relationship Id="rId9" Target="../media/VAHIG9EBhqk.mp4" Type="http://schemas.openxmlformats.org/officeDocument/2006/relationships/video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6545" y="2905010"/>
            <a:ext cx="9927512" cy="3292861"/>
            <a:chOff x="0" y="0"/>
            <a:chExt cx="13236682" cy="43904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36682" cy="4390481"/>
            </a:xfrm>
            <a:custGeom>
              <a:avLst/>
              <a:gdLst/>
              <a:ahLst/>
              <a:cxnLst/>
              <a:rect r="r" b="b" t="t" l="l"/>
              <a:pathLst>
                <a:path h="4390481" w="13236682">
                  <a:moveTo>
                    <a:pt x="0" y="0"/>
                  </a:moveTo>
                  <a:lnTo>
                    <a:pt x="13236682" y="0"/>
                  </a:lnTo>
                  <a:lnTo>
                    <a:pt x="13236682" y="4390481"/>
                  </a:lnTo>
                  <a:lnTo>
                    <a:pt x="0" y="43904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11" r="-4484" b="35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13236682" cy="4533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814"/>
                </a:lnSpc>
              </a:pPr>
              <a:r>
                <a:rPr lang="en-US" sz="6512" b="true">
                  <a:solidFill>
                    <a:srgbClr val="E9E9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Multi-Factor Intelligent</a:t>
              </a:r>
            </a:p>
            <a:p>
              <a:pPr algn="l">
                <a:lnSpc>
                  <a:spcPts val="7814"/>
                </a:lnSpc>
              </a:pPr>
              <a:r>
                <a:rPr lang="en-US" sz="6512" b="true">
                  <a:solidFill>
                    <a:srgbClr val="E9E9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Major Recommendation</a:t>
              </a:r>
            </a:p>
            <a:p>
              <a:pPr algn="l">
                <a:lnSpc>
                  <a:spcPts val="7814"/>
                </a:lnSpc>
              </a:pPr>
              <a:r>
                <a:rPr lang="en-US" sz="6512" b="true">
                  <a:solidFill>
                    <a:srgbClr val="E9E9E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6545" y="7550421"/>
            <a:ext cx="11221269" cy="992982"/>
            <a:chOff x="0" y="0"/>
            <a:chExt cx="14961692" cy="13239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1691" cy="1323977"/>
            </a:xfrm>
            <a:custGeom>
              <a:avLst/>
              <a:gdLst/>
              <a:ahLst/>
              <a:cxnLst/>
              <a:rect r="r" b="b" t="t" l="l"/>
              <a:pathLst>
                <a:path h="1323977" w="14961691">
                  <a:moveTo>
                    <a:pt x="0" y="0"/>
                  </a:moveTo>
                  <a:lnTo>
                    <a:pt x="14961691" y="0"/>
                  </a:lnTo>
                  <a:lnTo>
                    <a:pt x="14961691" y="1323977"/>
                  </a:lnTo>
                  <a:lnTo>
                    <a:pt x="0" y="13239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192" r="0" b="-1701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961692" cy="1371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7"/>
                </a:lnSpc>
              </a:pPr>
              <a:r>
                <a:rPr lang="en-US" sz="2912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Making major selection smarter, personalized, and data-driven.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14425" y="1100138"/>
            <a:ext cx="13670280" cy="456752"/>
            <a:chOff x="0" y="0"/>
            <a:chExt cx="18227040" cy="6090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27039" cy="609004"/>
            </a:xfrm>
            <a:custGeom>
              <a:avLst/>
              <a:gdLst/>
              <a:ahLst/>
              <a:cxnLst/>
              <a:rect r="r" b="b" t="t" l="l"/>
              <a:pathLst>
                <a:path h="609004" w="18227039">
                  <a:moveTo>
                    <a:pt x="0" y="0"/>
                  </a:moveTo>
                  <a:lnTo>
                    <a:pt x="18227039" y="0"/>
                  </a:lnTo>
                  <a:lnTo>
                    <a:pt x="18227039" y="609004"/>
                  </a:lnTo>
                  <a:lnTo>
                    <a:pt x="0" y="609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3172" r="0" b="-5331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27040" cy="6471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7"/>
                </a:lnSpc>
              </a:pPr>
              <a:r>
                <a:rPr lang="en-US" sz="2587">
                  <a:solidFill>
                    <a:srgbClr val="7E7CFF"/>
                  </a:solidFill>
                  <a:latin typeface="Inter"/>
                  <a:ea typeface="Inter"/>
                  <a:cs typeface="Inter"/>
                  <a:sym typeface="Inter"/>
                </a:rPr>
                <a:t>Artificial Intelligence · CS3081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71438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-1080000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32564" y="2674110"/>
            <a:ext cx="6071521" cy="5904528"/>
            <a:chOff x="0" y="0"/>
            <a:chExt cx="8095361" cy="7872705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095361" cy="7872730"/>
            </a:xfrm>
            <a:custGeom>
              <a:avLst/>
              <a:gdLst/>
              <a:ahLst/>
              <a:cxnLst/>
              <a:rect r="r" b="b" t="t" l="l"/>
              <a:pathLst>
                <a:path h="7872730" w="8095361">
                  <a:moveTo>
                    <a:pt x="0" y="0"/>
                  </a:moveTo>
                  <a:lnTo>
                    <a:pt x="8095361" y="0"/>
                  </a:lnTo>
                  <a:lnTo>
                    <a:pt x="8095361" y="7872730"/>
                  </a:lnTo>
                  <a:lnTo>
                    <a:pt x="0" y="7872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0" r="0" b="-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412" y="1457325"/>
            <a:ext cx="17273588" cy="847877"/>
            <a:chOff x="0" y="0"/>
            <a:chExt cx="23031450" cy="11305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31450" cy="1130498"/>
            </a:xfrm>
            <a:custGeom>
              <a:avLst/>
              <a:gdLst/>
              <a:ahLst/>
              <a:cxnLst/>
              <a:rect r="r" b="b" t="t" l="l"/>
              <a:pathLst>
                <a:path h="1130498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1130498"/>
                  </a:lnTo>
                  <a:lnTo>
                    <a:pt x="0" y="11304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6965" r="0" b="-3469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3031450" cy="12067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676"/>
                </a:lnSpc>
              </a:pPr>
              <a:r>
                <a:rPr lang="en-US" sz="51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Statement &amp; Domain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4412" y="5536111"/>
            <a:ext cx="9461002" cy="1027180"/>
            <a:chOff x="0" y="0"/>
            <a:chExt cx="12614669" cy="13695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14672" cy="1369567"/>
            </a:xfrm>
            <a:custGeom>
              <a:avLst/>
              <a:gdLst/>
              <a:ahLst/>
              <a:cxnLst/>
              <a:rect r="r" b="b" t="t" l="l"/>
              <a:pathLst>
                <a:path h="1369567" w="12614672">
                  <a:moveTo>
                    <a:pt x="0" y="0"/>
                  </a:moveTo>
                  <a:lnTo>
                    <a:pt x="12614672" y="0"/>
                  </a:lnTo>
                  <a:lnTo>
                    <a:pt x="12614672" y="1369567"/>
                  </a:lnTo>
                  <a:lnTo>
                    <a:pt x="0" y="13695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9415" r="0" b="-1195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2614669" cy="1379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Students are choosing their futures with the</a:t>
              </a:r>
            </a:p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wrong information.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2074" y="353616"/>
            <a:ext cx="6840855" cy="306067"/>
            <a:chOff x="0" y="0"/>
            <a:chExt cx="9121140" cy="4080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21140" cy="408086"/>
            </a:xfrm>
            <a:custGeom>
              <a:avLst/>
              <a:gdLst/>
              <a:ahLst/>
              <a:cxnLst/>
              <a:rect r="r" b="b" t="t" l="l"/>
              <a:pathLst>
                <a:path h="408086" w="9121140">
                  <a:moveTo>
                    <a:pt x="0" y="0"/>
                  </a:moveTo>
                  <a:lnTo>
                    <a:pt x="9121140" y="0"/>
                  </a:lnTo>
                  <a:lnTo>
                    <a:pt x="9121140" y="408086"/>
                  </a:lnTo>
                  <a:lnTo>
                    <a:pt x="0" y="4080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5510" r="0" b="-3855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9121140" cy="379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0"/>
                </a:lnSpc>
              </a:pPr>
              <a:r>
                <a:rPr lang="en-US" sz="236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Exploring Your Path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3857625"/>
            <a:ext cx="12447270" cy="411661"/>
            <a:chOff x="0" y="0"/>
            <a:chExt cx="16596360" cy="5488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96361" cy="548878"/>
            </a:xfrm>
            <a:custGeom>
              <a:avLst/>
              <a:gdLst/>
              <a:ahLst/>
              <a:cxnLst/>
              <a:rect r="r" b="b" t="t" l="l"/>
              <a:pathLst>
                <a:path h="548878" w="16596361">
                  <a:moveTo>
                    <a:pt x="0" y="0"/>
                  </a:moveTo>
                  <a:lnTo>
                    <a:pt x="16596361" y="0"/>
                  </a:lnTo>
                  <a:lnTo>
                    <a:pt x="16596361" y="548878"/>
                  </a:lnTo>
                  <a:lnTo>
                    <a:pt x="0" y="5488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166" r="0" b="-5391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596360" cy="58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3"/>
                </a:lnSpc>
              </a:pPr>
              <a:r>
                <a:rPr lang="en-US" sz="24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Recommendation &amp; Decision Support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3571875"/>
            <a:ext cx="1748790" cy="259852"/>
            <a:chOff x="0" y="0"/>
            <a:chExt cx="2331720" cy="3464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1720" cy="346472"/>
            </a:xfrm>
            <a:custGeom>
              <a:avLst/>
              <a:gdLst/>
              <a:ahLst/>
              <a:cxnLst/>
              <a:rect r="r" b="b" t="t" l="l"/>
              <a:pathLst>
                <a:path h="346472" w="2331720">
                  <a:moveTo>
                    <a:pt x="0" y="0"/>
                  </a:moveTo>
                  <a:lnTo>
                    <a:pt x="2331720" y="0"/>
                  </a:lnTo>
                  <a:lnTo>
                    <a:pt x="2331720" y="346472"/>
                  </a:lnTo>
                  <a:lnTo>
                    <a:pt x="0" y="3464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132" r="0" b="-811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331720" cy="336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6"/>
                </a:lnSpc>
              </a:pPr>
              <a:r>
                <a:rPr lang="en-US" sz="1912" b="true">
                  <a:solidFill>
                    <a:srgbClr val="3B82F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DOMAIN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943870"/>
            <a:ext cx="2486025" cy="229267"/>
            <a:chOff x="0" y="0"/>
            <a:chExt cx="3314700" cy="3056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14700" cy="305692"/>
            </a:xfrm>
            <a:custGeom>
              <a:avLst/>
              <a:gdLst/>
              <a:ahLst/>
              <a:cxnLst/>
              <a:rect r="r" b="b" t="t" l="l"/>
              <a:pathLst>
                <a:path h="305692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05692"/>
                  </a:lnTo>
                  <a:lnTo>
                    <a:pt x="0" y="3056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1281" r="0" b="-1612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314700" cy="305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6"/>
                </a:lnSpc>
              </a:pPr>
              <a:r>
                <a:rPr lang="en-US" sz="16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 / 07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1562" y="4597200"/>
            <a:ext cx="10199713" cy="1314450"/>
            <a:chOff x="0" y="0"/>
            <a:chExt cx="13599617" cy="1752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599616" cy="1752600"/>
            </a:xfrm>
            <a:custGeom>
              <a:avLst/>
              <a:gdLst/>
              <a:ahLst/>
              <a:cxnLst/>
              <a:rect r="r" b="b" t="t" l="l"/>
              <a:pathLst>
                <a:path h="1752600" w="13599616">
                  <a:moveTo>
                    <a:pt x="0" y="0"/>
                  </a:moveTo>
                  <a:lnTo>
                    <a:pt x="13599616" y="0"/>
                  </a:lnTo>
                  <a:lnTo>
                    <a:pt x="13599616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475" r="0" b="-939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599617" cy="179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7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Problem: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7033839"/>
            <a:ext cx="9518152" cy="1040349"/>
            <a:chOff x="0" y="0"/>
            <a:chExt cx="11706145" cy="1279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6148" cy="1279494"/>
            </a:xfrm>
            <a:custGeom>
              <a:avLst/>
              <a:gdLst/>
              <a:ahLst/>
              <a:cxnLst/>
              <a:rect r="r" b="b" t="t" l="l"/>
              <a:pathLst>
                <a:path h="1279494" w="11706148">
                  <a:moveTo>
                    <a:pt x="0" y="0"/>
                  </a:moveTo>
                  <a:lnTo>
                    <a:pt x="11706148" y="0"/>
                  </a:lnTo>
                  <a:lnTo>
                    <a:pt x="11706148" y="1279494"/>
                  </a:lnTo>
                  <a:lnTo>
                    <a:pt x="0" y="1279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230" r="-7761" b="-1349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1706145" cy="1289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Lack of integration of logical, emotional, and psychological factors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4412" y="8821670"/>
            <a:ext cx="10256863" cy="1465330"/>
            <a:chOff x="0" y="0"/>
            <a:chExt cx="12614669" cy="18021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14672" cy="1802165"/>
            </a:xfrm>
            <a:custGeom>
              <a:avLst/>
              <a:gdLst/>
              <a:ahLst/>
              <a:cxnLst/>
              <a:rect r="r" b="b" t="t" l="l"/>
              <a:pathLst>
                <a:path h="1802165" w="12614672">
                  <a:moveTo>
                    <a:pt x="0" y="0"/>
                  </a:moveTo>
                  <a:lnTo>
                    <a:pt x="12614672" y="0"/>
                  </a:lnTo>
                  <a:lnTo>
                    <a:pt x="12614672" y="1802165"/>
                  </a:lnTo>
                  <a:lnTo>
                    <a:pt x="0" y="18021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949" r="0" b="-668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2614669" cy="1811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AI-based system for personalized, multi-factor recommendations</a:t>
              </a:r>
            </a:p>
            <a:p>
              <a:pPr algn="l">
                <a:lnSpc>
                  <a:spcPts val="34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4412" y="6239563"/>
            <a:ext cx="10199713" cy="1314450"/>
            <a:chOff x="0" y="0"/>
            <a:chExt cx="13599617" cy="1752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99616" cy="1752600"/>
            </a:xfrm>
            <a:custGeom>
              <a:avLst/>
              <a:gdLst/>
              <a:ahLst/>
              <a:cxnLst/>
              <a:rect r="r" b="b" t="t" l="l"/>
              <a:pathLst>
                <a:path h="1752600" w="13599616">
                  <a:moveTo>
                    <a:pt x="0" y="0"/>
                  </a:moveTo>
                  <a:lnTo>
                    <a:pt x="13599616" y="0"/>
                  </a:lnTo>
                  <a:lnTo>
                    <a:pt x="13599616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475" r="0" b="-9392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599617" cy="179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7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Gap: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14412" y="7921414"/>
            <a:ext cx="10199713" cy="1314450"/>
            <a:chOff x="0" y="0"/>
            <a:chExt cx="13599617" cy="1752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599616" cy="1752600"/>
            </a:xfrm>
            <a:custGeom>
              <a:avLst/>
              <a:gdLst/>
              <a:ahLst/>
              <a:cxnLst/>
              <a:rect r="r" b="b" t="t" l="l"/>
              <a:pathLst>
                <a:path h="1752600" w="13599616">
                  <a:moveTo>
                    <a:pt x="0" y="0"/>
                  </a:moveTo>
                  <a:lnTo>
                    <a:pt x="13599616" y="0"/>
                  </a:lnTo>
                  <a:lnTo>
                    <a:pt x="13599616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475" r="0" b="-9392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599617" cy="179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7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Solution: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46200" y="6778971"/>
            <a:ext cx="932478" cy="894750"/>
            <a:chOff x="0" y="0"/>
            <a:chExt cx="1243305" cy="1193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243330" cy="1193038"/>
            </a:xfrm>
            <a:custGeom>
              <a:avLst/>
              <a:gdLst/>
              <a:ahLst/>
              <a:cxnLst/>
              <a:rect r="r" b="b" t="t" l="l"/>
              <a:pathLst>
                <a:path h="1193038" w="1243330">
                  <a:moveTo>
                    <a:pt x="0" y="0"/>
                  </a:moveTo>
                  <a:lnTo>
                    <a:pt x="1243330" y="0"/>
                  </a:lnTo>
                  <a:lnTo>
                    <a:pt x="1243330" y="1193038"/>
                  </a:lnTo>
                  <a:lnTo>
                    <a:pt x="0" y="1193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8" t="0" r="-297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6800" y="6737899"/>
            <a:ext cx="932478" cy="977132"/>
            <a:chOff x="0" y="0"/>
            <a:chExt cx="1243305" cy="130284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43330" cy="1302893"/>
            </a:xfrm>
            <a:custGeom>
              <a:avLst/>
              <a:gdLst/>
              <a:ahLst/>
              <a:cxnLst/>
              <a:rect r="r" b="b" t="t" l="l"/>
              <a:pathLst>
                <a:path h="1302893" w="1243330">
                  <a:moveTo>
                    <a:pt x="0" y="0"/>
                  </a:moveTo>
                  <a:lnTo>
                    <a:pt x="1243330" y="0"/>
                  </a:lnTo>
                  <a:lnTo>
                    <a:pt x="1243330" y="1302893"/>
                  </a:lnTo>
                  <a:lnTo>
                    <a:pt x="0" y="1302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2" t="0" r="-80" b="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017339" y="6737899"/>
            <a:ext cx="1024014" cy="997668"/>
            <a:chOff x="0" y="0"/>
            <a:chExt cx="1365352" cy="133022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65377" cy="1330198"/>
            </a:xfrm>
            <a:custGeom>
              <a:avLst/>
              <a:gdLst/>
              <a:ahLst/>
              <a:cxnLst/>
              <a:rect r="r" b="b" t="t" l="l"/>
              <a:pathLst>
                <a:path h="1330198" w="1365377">
                  <a:moveTo>
                    <a:pt x="0" y="0"/>
                  </a:moveTo>
                  <a:lnTo>
                    <a:pt x="1365377" y="0"/>
                  </a:lnTo>
                  <a:lnTo>
                    <a:pt x="1365377" y="1330198"/>
                  </a:lnTo>
                  <a:lnTo>
                    <a:pt x="0" y="1330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5" t="0" r="-123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11693" y="3322510"/>
            <a:ext cx="1024014" cy="997668"/>
            <a:chOff x="0" y="0"/>
            <a:chExt cx="1365352" cy="133022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65377" cy="1330198"/>
            </a:xfrm>
            <a:custGeom>
              <a:avLst/>
              <a:gdLst/>
              <a:ahLst/>
              <a:cxnLst/>
              <a:rect r="r" b="b" t="t" l="l"/>
              <a:pathLst>
                <a:path h="1330198" w="1365377">
                  <a:moveTo>
                    <a:pt x="0" y="0"/>
                  </a:moveTo>
                  <a:lnTo>
                    <a:pt x="1365377" y="0"/>
                  </a:lnTo>
                  <a:lnTo>
                    <a:pt x="1365377" y="1330198"/>
                  </a:lnTo>
                  <a:lnTo>
                    <a:pt x="0" y="1330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5" t="0" r="-123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70372" y="3301975"/>
            <a:ext cx="914400" cy="1018203"/>
            <a:chOff x="0" y="0"/>
            <a:chExt cx="1219200" cy="1357605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9200" cy="1357630"/>
            </a:xfrm>
            <a:custGeom>
              <a:avLst/>
              <a:gdLst/>
              <a:ahLst/>
              <a:cxnLst/>
              <a:rect r="r" b="b" t="t" l="l"/>
              <a:pathLst>
                <a:path h="135763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357630"/>
                  </a:lnTo>
                  <a:lnTo>
                    <a:pt x="0" y="1357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87" t="0" r="-186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5838" y="1314450"/>
            <a:ext cx="17302162" cy="755894"/>
            <a:chOff x="0" y="0"/>
            <a:chExt cx="23069550" cy="10078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069550" cy="1007864"/>
            </a:xfrm>
            <a:custGeom>
              <a:avLst/>
              <a:gdLst/>
              <a:ahLst/>
              <a:cxnLst/>
              <a:rect r="r" b="b" t="t" l="l"/>
              <a:pathLst>
                <a:path h="1007864" w="23069550">
                  <a:moveTo>
                    <a:pt x="0" y="0"/>
                  </a:moveTo>
                  <a:lnTo>
                    <a:pt x="23069550" y="0"/>
                  </a:lnTo>
                  <a:lnTo>
                    <a:pt x="23069550" y="1007864"/>
                  </a:lnTo>
                  <a:lnTo>
                    <a:pt x="0" y="10078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96003" r="0" b="-39600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3069550" cy="1026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50"/>
                </a:lnSpc>
              </a:pPr>
              <a:r>
                <a:rPr lang="en-US" sz="517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We Set Out to Achieve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51260" y="4557712"/>
            <a:ext cx="3284563" cy="345129"/>
            <a:chOff x="0" y="0"/>
            <a:chExt cx="4379417" cy="4601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79416" cy="460176"/>
            </a:xfrm>
            <a:custGeom>
              <a:avLst/>
              <a:gdLst/>
              <a:ahLst/>
              <a:cxnLst/>
              <a:rect r="r" b="b" t="t" l="l"/>
              <a:pathLst>
                <a:path h="460176" w="4379416">
                  <a:moveTo>
                    <a:pt x="0" y="0"/>
                  </a:moveTo>
                  <a:lnTo>
                    <a:pt x="4379416" y="0"/>
                  </a:lnTo>
                  <a:lnTo>
                    <a:pt x="4379416" y="460176"/>
                  </a:lnTo>
                  <a:lnTo>
                    <a:pt x="0" y="4601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5436" r="0" b="-1354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379417" cy="479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16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Intelligent Agent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78886" y="4557712"/>
            <a:ext cx="4573343" cy="345129"/>
            <a:chOff x="0" y="0"/>
            <a:chExt cx="6097791" cy="4601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7786" cy="460176"/>
            </a:xfrm>
            <a:custGeom>
              <a:avLst/>
              <a:gdLst/>
              <a:ahLst/>
              <a:cxnLst/>
              <a:rect r="r" b="b" t="t" l="l"/>
              <a:pathLst>
                <a:path h="460176" w="6097786">
                  <a:moveTo>
                    <a:pt x="0" y="0"/>
                  </a:moveTo>
                  <a:lnTo>
                    <a:pt x="6097786" y="0"/>
                  </a:lnTo>
                  <a:lnTo>
                    <a:pt x="6097786" y="460176"/>
                  </a:lnTo>
                  <a:lnTo>
                    <a:pt x="0" y="4601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8196" r="0" b="-2081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097791" cy="479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16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Multi-Factor Integration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2266" y="7943850"/>
            <a:ext cx="5107781" cy="345129"/>
            <a:chOff x="0" y="0"/>
            <a:chExt cx="6810375" cy="4601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10376" cy="460176"/>
            </a:xfrm>
            <a:custGeom>
              <a:avLst/>
              <a:gdLst/>
              <a:ahLst/>
              <a:cxnLst/>
              <a:rect r="r" b="b" t="t" l="l"/>
              <a:pathLst>
                <a:path h="460176" w="6810376">
                  <a:moveTo>
                    <a:pt x="0" y="0"/>
                  </a:moveTo>
                  <a:lnTo>
                    <a:pt x="6810376" y="0"/>
                  </a:lnTo>
                  <a:lnTo>
                    <a:pt x="6810376" y="460176"/>
                  </a:lnTo>
                  <a:lnTo>
                    <a:pt x="0" y="4601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38369" r="0" b="-2383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810375" cy="479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16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Ranked Recommendations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37999" y="7943850"/>
            <a:ext cx="3268932" cy="345129"/>
            <a:chOff x="0" y="0"/>
            <a:chExt cx="4358576" cy="4601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58580" cy="460176"/>
            </a:xfrm>
            <a:custGeom>
              <a:avLst/>
              <a:gdLst/>
              <a:ahLst/>
              <a:cxnLst/>
              <a:rect r="r" b="b" t="t" l="l"/>
              <a:pathLst>
                <a:path h="460176" w="4358580">
                  <a:moveTo>
                    <a:pt x="0" y="0"/>
                  </a:moveTo>
                  <a:lnTo>
                    <a:pt x="4358580" y="0"/>
                  </a:lnTo>
                  <a:lnTo>
                    <a:pt x="4358580" y="460176"/>
                  </a:lnTo>
                  <a:lnTo>
                    <a:pt x="0" y="4601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4553" r="0" b="-1345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358576" cy="479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16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Input Robustness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85738" y="7943850"/>
            <a:ext cx="4117477" cy="345129"/>
            <a:chOff x="0" y="0"/>
            <a:chExt cx="5489969" cy="4601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9972" cy="460176"/>
            </a:xfrm>
            <a:custGeom>
              <a:avLst/>
              <a:gdLst/>
              <a:ahLst/>
              <a:cxnLst/>
              <a:rect r="r" b="b" t="t" l="l"/>
              <a:pathLst>
                <a:path h="460176" w="5489972">
                  <a:moveTo>
                    <a:pt x="0" y="0"/>
                  </a:moveTo>
                  <a:lnTo>
                    <a:pt x="5489972" y="0"/>
                  </a:lnTo>
                  <a:lnTo>
                    <a:pt x="5489972" y="460176"/>
                  </a:lnTo>
                  <a:lnTo>
                    <a:pt x="0" y="4601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2459" r="0" b="-1824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489969" cy="479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16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Feedback Mechanism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982641" y="3257550"/>
            <a:ext cx="392906" cy="313430"/>
            <a:chOff x="0" y="0"/>
            <a:chExt cx="523875" cy="4179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3874" cy="417910"/>
            </a:xfrm>
            <a:custGeom>
              <a:avLst/>
              <a:gdLst/>
              <a:ahLst/>
              <a:cxnLst/>
              <a:rect r="r" b="b" t="t" l="l"/>
              <a:pathLst>
                <a:path h="417910" w="523874">
                  <a:moveTo>
                    <a:pt x="0" y="0"/>
                  </a:moveTo>
                  <a:lnTo>
                    <a:pt x="523874" y="0"/>
                  </a:lnTo>
                  <a:lnTo>
                    <a:pt x="523874" y="417910"/>
                  </a:lnTo>
                  <a:lnTo>
                    <a:pt x="0" y="41791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2350" t="0" r="-5235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23875" cy="446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67"/>
                </a:lnSpc>
              </a:pPr>
              <a:r>
                <a:rPr lang="en-US" sz="191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25308" y="3257550"/>
            <a:ext cx="408537" cy="350263"/>
            <a:chOff x="0" y="0"/>
            <a:chExt cx="544716" cy="4670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4710" cy="467022"/>
            </a:xfrm>
            <a:custGeom>
              <a:avLst/>
              <a:gdLst/>
              <a:ahLst/>
              <a:cxnLst/>
              <a:rect r="r" b="b" t="t" l="l"/>
              <a:pathLst>
                <a:path h="467022" w="544710">
                  <a:moveTo>
                    <a:pt x="0" y="0"/>
                  </a:moveTo>
                  <a:lnTo>
                    <a:pt x="544710" y="0"/>
                  </a:lnTo>
                  <a:lnTo>
                    <a:pt x="544710" y="467022"/>
                  </a:lnTo>
                  <a:lnTo>
                    <a:pt x="0" y="4670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60002" t="0" r="-60003" b="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4716" cy="50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7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95683" y="6643688"/>
            <a:ext cx="408537" cy="350263"/>
            <a:chOff x="0" y="0"/>
            <a:chExt cx="544716" cy="46701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710" cy="467022"/>
            </a:xfrm>
            <a:custGeom>
              <a:avLst/>
              <a:gdLst/>
              <a:ahLst/>
              <a:cxnLst/>
              <a:rect r="r" b="b" t="t" l="l"/>
              <a:pathLst>
                <a:path h="467022" w="544710">
                  <a:moveTo>
                    <a:pt x="0" y="0"/>
                  </a:moveTo>
                  <a:lnTo>
                    <a:pt x="544710" y="0"/>
                  </a:lnTo>
                  <a:lnTo>
                    <a:pt x="544710" y="467022"/>
                  </a:lnTo>
                  <a:lnTo>
                    <a:pt x="0" y="4670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60002" t="0" r="-60003" b="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4716" cy="50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7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39245" y="6643688"/>
            <a:ext cx="408537" cy="350263"/>
            <a:chOff x="0" y="0"/>
            <a:chExt cx="544716" cy="46701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4710" cy="467022"/>
            </a:xfrm>
            <a:custGeom>
              <a:avLst/>
              <a:gdLst/>
              <a:ahLst/>
              <a:cxnLst/>
              <a:rect r="r" b="b" t="t" l="l"/>
              <a:pathLst>
                <a:path h="467022" w="544710">
                  <a:moveTo>
                    <a:pt x="0" y="0"/>
                  </a:moveTo>
                  <a:lnTo>
                    <a:pt x="544710" y="0"/>
                  </a:lnTo>
                  <a:lnTo>
                    <a:pt x="544710" y="467022"/>
                  </a:lnTo>
                  <a:lnTo>
                    <a:pt x="0" y="4670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60002" t="0" r="-60003" b="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44716" cy="50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7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9279" y="6643688"/>
            <a:ext cx="424158" cy="350263"/>
            <a:chOff x="0" y="0"/>
            <a:chExt cx="565544" cy="4670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5546" cy="467022"/>
            </a:xfrm>
            <a:custGeom>
              <a:avLst/>
              <a:gdLst/>
              <a:ahLst/>
              <a:cxnLst/>
              <a:rect r="r" b="b" t="t" l="l"/>
              <a:pathLst>
                <a:path h="467022" w="565546">
                  <a:moveTo>
                    <a:pt x="0" y="0"/>
                  </a:moveTo>
                  <a:lnTo>
                    <a:pt x="565546" y="0"/>
                  </a:lnTo>
                  <a:lnTo>
                    <a:pt x="565546" y="467022"/>
                  </a:lnTo>
                  <a:lnTo>
                    <a:pt x="0" y="4670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950" t="0" r="-55950" b="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65544" cy="50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7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5838" y="800100"/>
            <a:ext cx="9178290" cy="405413"/>
            <a:chOff x="0" y="0"/>
            <a:chExt cx="12237720" cy="5405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237720" cy="540544"/>
            </a:xfrm>
            <a:custGeom>
              <a:avLst/>
              <a:gdLst/>
              <a:ahLst/>
              <a:cxnLst/>
              <a:rect r="r" b="b" t="t" l="l"/>
              <a:pathLst>
                <a:path h="540544" w="12237720">
                  <a:moveTo>
                    <a:pt x="0" y="0"/>
                  </a:moveTo>
                  <a:lnTo>
                    <a:pt x="12237720" y="0"/>
                  </a:lnTo>
                  <a:lnTo>
                    <a:pt x="12237720" y="540544"/>
                  </a:lnTo>
                  <a:lnTo>
                    <a:pt x="0" y="5405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91133" r="0" b="-3911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2237720" cy="58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3"/>
                </a:lnSpc>
              </a:pPr>
              <a:r>
                <a:rPr lang="en-US" sz="2475" b="true">
                  <a:solidFill>
                    <a:srgbClr val="5DADE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 • PROJECT OBJECTIVES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469082" y="5057775"/>
            <a:ext cx="3834632" cy="617039"/>
            <a:chOff x="0" y="0"/>
            <a:chExt cx="5112842" cy="8227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12842" cy="822722"/>
            </a:xfrm>
            <a:custGeom>
              <a:avLst/>
              <a:gdLst/>
              <a:ahLst/>
              <a:cxnLst/>
              <a:rect r="r" b="b" t="t" l="l"/>
              <a:pathLst>
                <a:path h="822722" w="5112842">
                  <a:moveTo>
                    <a:pt x="0" y="0"/>
                  </a:moveTo>
                  <a:lnTo>
                    <a:pt x="5112842" y="0"/>
                  </a:lnTo>
                  <a:lnTo>
                    <a:pt x="5112842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1090" r="0" b="-710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112842" cy="841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Develop an AI agent for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university major selection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31785" y="5057775"/>
            <a:ext cx="4667545" cy="617039"/>
            <a:chOff x="0" y="0"/>
            <a:chExt cx="6223394" cy="8227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23396" cy="822722"/>
            </a:xfrm>
            <a:custGeom>
              <a:avLst/>
              <a:gdLst/>
              <a:ahLst/>
              <a:cxnLst/>
              <a:rect r="r" b="b" t="t" l="l"/>
              <a:pathLst>
                <a:path h="822722" w="6223396">
                  <a:moveTo>
                    <a:pt x="0" y="0"/>
                  </a:moveTo>
                  <a:lnTo>
                    <a:pt x="6223396" y="0"/>
                  </a:lnTo>
                  <a:lnTo>
                    <a:pt x="6223396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7392" r="0" b="-9739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223394" cy="841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Combine logical, emotional, and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psychological dimensions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0735" y="8458200"/>
            <a:ext cx="4667545" cy="617039"/>
            <a:chOff x="0" y="0"/>
            <a:chExt cx="6223394" cy="8227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23396" cy="822722"/>
            </a:xfrm>
            <a:custGeom>
              <a:avLst/>
              <a:gdLst/>
              <a:ahLst/>
              <a:cxnLst/>
              <a:rect r="r" b="b" t="t" l="l"/>
              <a:pathLst>
                <a:path h="822722" w="6223396">
                  <a:moveTo>
                    <a:pt x="0" y="0"/>
                  </a:moveTo>
                  <a:lnTo>
                    <a:pt x="6223396" y="0"/>
                  </a:lnTo>
                  <a:lnTo>
                    <a:pt x="6223396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7392" r="0" b="-973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223394" cy="841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Generate top-three majors with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explainable reasoning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15804" y="8458200"/>
            <a:ext cx="4699025" cy="617039"/>
            <a:chOff x="0" y="0"/>
            <a:chExt cx="6265367" cy="8227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65366" cy="822722"/>
            </a:xfrm>
            <a:custGeom>
              <a:avLst/>
              <a:gdLst/>
              <a:ahLst/>
              <a:cxnLst/>
              <a:rect r="r" b="b" t="t" l="l"/>
              <a:pathLst>
                <a:path h="822722" w="6265366">
                  <a:moveTo>
                    <a:pt x="0" y="0"/>
                  </a:moveTo>
                  <a:lnTo>
                    <a:pt x="6265366" y="0"/>
                  </a:lnTo>
                  <a:lnTo>
                    <a:pt x="6265366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8386" r="0" b="-983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265367" cy="841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Detect and handle conflicting or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inconsistent user inputs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80131" y="8458200"/>
            <a:ext cx="4557712" cy="617039"/>
            <a:chOff x="0" y="0"/>
            <a:chExt cx="6076950" cy="8227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76950" cy="822722"/>
            </a:xfrm>
            <a:custGeom>
              <a:avLst/>
              <a:gdLst/>
              <a:ahLst/>
              <a:cxnLst/>
              <a:rect r="r" b="b" t="t" l="l"/>
              <a:pathLst>
                <a:path h="822722" w="6076950">
                  <a:moveTo>
                    <a:pt x="0" y="0"/>
                  </a:moveTo>
                  <a:lnTo>
                    <a:pt x="6076950" y="0"/>
                  </a:lnTo>
                  <a:lnTo>
                    <a:pt x="6076950" y="822722"/>
                  </a:lnTo>
                  <a:lnTo>
                    <a:pt x="0" y="82272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3924" r="0" b="-939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076950" cy="841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Capture and store final student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BDC3C7"/>
                  </a:solidFill>
                  <a:latin typeface="Poppins"/>
                  <a:ea typeface="Poppins"/>
                  <a:cs typeface="Poppins"/>
                  <a:sym typeface="Poppins"/>
                </a:rPr>
                <a:t>decisions for refinement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50986" y="5482828"/>
            <a:ext cx="786260" cy="750760"/>
            <a:chOff x="0" y="0"/>
            <a:chExt cx="1048347" cy="1001014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048385" cy="1001014"/>
            </a:xfrm>
            <a:custGeom>
              <a:avLst/>
              <a:gdLst/>
              <a:ahLst/>
              <a:cxnLst/>
              <a:rect r="r" b="b" t="t" l="l"/>
              <a:pathLst>
                <a:path h="1001014" w="1048385">
                  <a:moveTo>
                    <a:pt x="0" y="0"/>
                  </a:moveTo>
                  <a:lnTo>
                    <a:pt x="1048385" y="0"/>
                  </a:lnTo>
                  <a:lnTo>
                    <a:pt x="1048385" y="1001014"/>
                  </a:lnTo>
                  <a:lnTo>
                    <a:pt x="0" y="1001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6" t="0" r="-49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99572" y="5482828"/>
            <a:ext cx="694725" cy="750760"/>
            <a:chOff x="0" y="0"/>
            <a:chExt cx="926300" cy="100101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26338" cy="1001014"/>
            </a:xfrm>
            <a:custGeom>
              <a:avLst/>
              <a:gdLst/>
              <a:ahLst/>
              <a:cxnLst/>
              <a:rect r="r" b="b" t="t" l="l"/>
              <a:pathLst>
                <a:path h="1001014" w="926338">
                  <a:moveTo>
                    <a:pt x="0" y="0"/>
                  </a:moveTo>
                  <a:lnTo>
                    <a:pt x="926338" y="0"/>
                  </a:lnTo>
                  <a:lnTo>
                    <a:pt x="926338" y="1001014"/>
                  </a:lnTo>
                  <a:lnTo>
                    <a:pt x="0" y="1001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4" r="4" b="-12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74939" y="5482828"/>
            <a:ext cx="713032" cy="750760"/>
            <a:chOff x="0" y="0"/>
            <a:chExt cx="950709" cy="100101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0722" cy="1001014"/>
            </a:xfrm>
            <a:custGeom>
              <a:avLst/>
              <a:gdLst/>
              <a:ahLst/>
              <a:cxnLst/>
              <a:rect r="r" b="b" t="t" l="l"/>
              <a:pathLst>
                <a:path h="1001014" w="950722">
                  <a:moveTo>
                    <a:pt x="0" y="0"/>
                  </a:moveTo>
                  <a:lnTo>
                    <a:pt x="950722" y="0"/>
                  </a:lnTo>
                  <a:lnTo>
                    <a:pt x="950722" y="1001014"/>
                  </a:lnTo>
                  <a:lnTo>
                    <a:pt x="0" y="1001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94" r="1" b="-39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13921" y="5565200"/>
            <a:ext cx="786260" cy="606771"/>
            <a:chOff x="0" y="0"/>
            <a:chExt cx="1048347" cy="8090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48385" cy="808990"/>
            </a:xfrm>
            <a:custGeom>
              <a:avLst/>
              <a:gdLst/>
              <a:ahLst/>
              <a:cxnLst/>
              <a:rect r="r" b="b" t="t" l="l"/>
              <a:pathLst>
                <a:path h="808990" w="1048385">
                  <a:moveTo>
                    <a:pt x="0" y="0"/>
                  </a:moveTo>
                  <a:lnTo>
                    <a:pt x="1048385" y="0"/>
                  </a:lnTo>
                  <a:lnTo>
                    <a:pt x="1048385" y="808990"/>
                  </a:lnTo>
                  <a:lnTo>
                    <a:pt x="0" y="808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529" t="0" r="-525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412" y="1257300"/>
            <a:ext cx="15087600" cy="1121283"/>
            <a:chOff x="0" y="0"/>
            <a:chExt cx="20116800" cy="14950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1495044"/>
            </a:xfrm>
            <a:custGeom>
              <a:avLst/>
              <a:gdLst/>
              <a:ahLst/>
              <a:cxnLst/>
              <a:rect r="r" b="b" t="t" l="l"/>
              <a:pathLst>
                <a:path h="149504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95044"/>
                  </a:lnTo>
                  <a:lnTo>
                    <a:pt x="0" y="149504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602" r="0" b="-1927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116800" cy="154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Weighted Scoring 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90214" y="4600575"/>
            <a:ext cx="1477194" cy="835819"/>
            <a:chOff x="0" y="0"/>
            <a:chExt cx="1969592" cy="1114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9592" cy="1114426"/>
            </a:xfrm>
            <a:custGeom>
              <a:avLst/>
              <a:gdLst/>
              <a:ahLst/>
              <a:cxnLst/>
              <a:rect r="r" b="b" t="t" l="l"/>
              <a:pathLst>
                <a:path h="1114426" w="1969592">
                  <a:moveTo>
                    <a:pt x="0" y="0"/>
                  </a:moveTo>
                  <a:lnTo>
                    <a:pt x="1969592" y="0"/>
                  </a:lnTo>
                  <a:lnTo>
                    <a:pt x="1969592" y="1114426"/>
                  </a:lnTo>
                  <a:lnTo>
                    <a:pt x="0" y="11144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596" t="0" r="-2259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61925"/>
              <a:ext cx="1969592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82"/>
                </a:lnSpc>
              </a:pPr>
              <a:r>
                <a:rPr lang="en-US" sz="4387" b="true">
                  <a:solidFill>
                    <a:srgbClr val="3A86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03464" y="4600575"/>
            <a:ext cx="1508674" cy="857250"/>
            <a:chOff x="0" y="0"/>
            <a:chExt cx="2011566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56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011560">
                  <a:moveTo>
                    <a:pt x="0" y="0"/>
                  </a:moveTo>
                  <a:lnTo>
                    <a:pt x="2011560" y="0"/>
                  </a:lnTo>
                  <a:lnTo>
                    <a:pt x="201156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903" t="0" r="-2290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71450"/>
              <a:ext cx="2011566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50"/>
                </a:lnSpc>
              </a:pPr>
              <a:r>
                <a:rPr lang="en-US" sz="4500" b="true">
                  <a:solidFill>
                    <a:srgbClr val="FF6B6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18277" y="4600575"/>
            <a:ext cx="1508674" cy="857250"/>
            <a:chOff x="0" y="0"/>
            <a:chExt cx="2011566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156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011560">
                  <a:moveTo>
                    <a:pt x="0" y="0"/>
                  </a:moveTo>
                  <a:lnTo>
                    <a:pt x="2011560" y="0"/>
                  </a:lnTo>
                  <a:lnTo>
                    <a:pt x="201156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903" t="0" r="-2290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71450"/>
              <a:ext cx="2011566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50"/>
                </a:lnSpc>
              </a:pPr>
              <a:r>
                <a:rPr lang="en-US" sz="4500" b="true">
                  <a:solidFill>
                    <a:srgbClr val="A77C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811004" y="4600575"/>
            <a:ext cx="1367133" cy="771525"/>
            <a:chOff x="0" y="0"/>
            <a:chExt cx="1822844" cy="1028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2846" cy="1028700"/>
            </a:xfrm>
            <a:custGeom>
              <a:avLst/>
              <a:gdLst/>
              <a:ahLst/>
              <a:cxnLst/>
              <a:rect r="r" b="b" t="t" l="l"/>
              <a:pathLst>
                <a:path h="1028700" w="1822846">
                  <a:moveTo>
                    <a:pt x="0" y="0"/>
                  </a:moveTo>
                  <a:lnTo>
                    <a:pt x="1822846" y="0"/>
                  </a:lnTo>
                  <a:lnTo>
                    <a:pt x="1822846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2406" t="0" r="-2240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52400"/>
              <a:ext cx="1822844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75"/>
                </a:lnSpc>
              </a:pPr>
              <a:r>
                <a:rPr lang="en-US" sz="4050" b="true">
                  <a:solidFill>
                    <a:srgbClr val="FDCB6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093119" y="6457950"/>
            <a:ext cx="1414462" cy="348929"/>
            <a:chOff x="0" y="0"/>
            <a:chExt cx="1885950" cy="4652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85950" cy="465236"/>
            </a:xfrm>
            <a:custGeom>
              <a:avLst/>
              <a:gdLst/>
              <a:ahLst/>
              <a:cxnLst/>
              <a:rect r="r" b="b" t="t" l="l"/>
              <a:pathLst>
                <a:path h="465236" w="1885950">
                  <a:moveTo>
                    <a:pt x="0" y="0"/>
                  </a:moveTo>
                  <a:lnTo>
                    <a:pt x="1885950" y="0"/>
                  </a:lnTo>
                  <a:lnTo>
                    <a:pt x="1885950" y="465236"/>
                  </a:lnTo>
                  <a:lnTo>
                    <a:pt x="0" y="46523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987" r="0" b="-289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885950" cy="474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48"/>
                </a:lnSpc>
              </a:pPr>
              <a:r>
                <a:rPr lang="en-US" sz="247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Logical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099200" y="6457950"/>
            <a:ext cx="1917202" cy="333080"/>
            <a:chOff x="0" y="0"/>
            <a:chExt cx="2556269" cy="4441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56272" cy="444104"/>
            </a:xfrm>
            <a:custGeom>
              <a:avLst/>
              <a:gdLst/>
              <a:ahLst/>
              <a:cxnLst/>
              <a:rect r="r" b="b" t="t" l="l"/>
              <a:pathLst>
                <a:path h="444104" w="2556272">
                  <a:moveTo>
                    <a:pt x="0" y="0"/>
                  </a:moveTo>
                  <a:lnTo>
                    <a:pt x="2556272" y="0"/>
                  </a:lnTo>
                  <a:lnTo>
                    <a:pt x="2556272" y="444104"/>
                  </a:lnTo>
                  <a:lnTo>
                    <a:pt x="0" y="44410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155" r="0" b="-621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556269" cy="453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2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Emotional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08381" y="6457950"/>
            <a:ext cx="2671762" cy="348929"/>
            <a:chOff x="0" y="0"/>
            <a:chExt cx="3562350" cy="4652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62350" cy="465236"/>
            </a:xfrm>
            <a:custGeom>
              <a:avLst/>
              <a:gdLst/>
              <a:ahLst/>
              <a:cxnLst/>
              <a:rect r="r" b="b" t="t" l="l"/>
              <a:pathLst>
                <a:path h="465236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465236"/>
                  </a:lnTo>
                  <a:lnTo>
                    <a:pt x="0" y="46523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9198" r="0" b="-9919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562350" cy="474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48"/>
                </a:lnSpc>
              </a:pPr>
              <a:r>
                <a:rPr lang="en-US" sz="247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Psychological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842484" y="6457950"/>
            <a:ext cx="1304401" cy="333080"/>
            <a:chOff x="0" y="0"/>
            <a:chExt cx="1739202" cy="4441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9206" cy="444104"/>
            </a:xfrm>
            <a:custGeom>
              <a:avLst/>
              <a:gdLst/>
              <a:ahLst/>
              <a:cxnLst/>
              <a:rect r="r" b="b" t="t" l="l"/>
              <a:pathLst>
                <a:path h="444104" w="1739206">
                  <a:moveTo>
                    <a:pt x="0" y="0"/>
                  </a:moveTo>
                  <a:lnTo>
                    <a:pt x="1739206" y="0"/>
                  </a:lnTo>
                  <a:lnTo>
                    <a:pt x="1739206" y="444104"/>
                  </a:lnTo>
                  <a:lnTo>
                    <a:pt x="0" y="44410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307" r="0" b="-263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739202" cy="453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2"/>
                </a:lnSpc>
              </a:pPr>
              <a:r>
                <a:rPr lang="en-US" sz="2362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Market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5104" y="3057525"/>
            <a:ext cx="16014725" cy="397145"/>
            <a:chOff x="0" y="0"/>
            <a:chExt cx="21352967" cy="5295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352966" cy="529530"/>
            </a:xfrm>
            <a:custGeom>
              <a:avLst/>
              <a:gdLst/>
              <a:ahLst/>
              <a:cxnLst/>
              <a:rect r="r" b="b" t="t" l="l"/>
              <a:pathLst>
                <a:path h="529530" w="21352966">
                  <a:moveTo>
                    <a:pt x="0" y="0"/>
                  </a:moveTo>
                  <a:lnTo>
                    <a:pt x="21352966" y="0"/>
                  </a:lnTo>
                  <a:lnTo>
                    <a:pt x="21352966" y="529530"/>
                  </a:lnTo>
                  <a:lnTo>
                    <a:pt x="0" y="5295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5722" r="0" b="-73572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21352967" cy="596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7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Score = 0.40 × Logical + 0.30 × Emotional + 0.20 × Psychological + 0.10 × Market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1562" y="714375"/>
            <a:ext cx="6835140" cy="391125"/>
            <a:chOff x="0" y="0"/>
            <a:chExt cx="9113520" cy="52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13520" cy="521494"/>
            </a:xfrm>
            <a:custGeom>
              <a:avLst/>
              <a:gdLst/>
              <a:ahLst/>
              <a:cxnLst/>
              <a:rect r="r" b="b" t="t" l="l"/>
              <a:pathLst>
                <a:path h="521494" w="9113520">
                  <a:moveTo>
                    <a:pt x="0" y="0"/>
                  </a:moveTo>
                  <a:lnTo>
                    <a:pt x="9113520" y="0"/>
                  </a:lnTo>
                  <a:lnTo>
                    <a:pt x="9113520" y="521494"/>
                  </a:lnTo>
                  <a:lnTo>
                    <a:pt x="0" y="52149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0515" r="0" b="-29051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113520" cy="53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9"/>
                </a:lnSpc>
              </a:pPr>
              <a:r>
                <a:rPr lang="en-US" sz="2587">
                  <a:solidFill>
                    <a:srgbClr val="3A86FF"/>
                  </a:solidFill>
                  <a:latin typeface="Poppins"/>
                  <a:ea typeface="Poppins"/>
                  <a:cs typeface="Poppins"/>
                  <a:sym typeface="Poppins"/>
                </a:rPr>
                <a:t>04 · Methodology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3673" y="6915150"/>
            <a:ext cx="3284563" cy="714823"/>
            <a:chOff x="0" y="0"/>
            <a:chExt cx="4379417" cy="9530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79416" cy="953096"/>
            </a:xfrm>
            <a:custGeom>
              <a:avLst/>
              <a:gdLst/>
              <a:ahLst/>
              <a:cxnLst/>
              <a:rect r="r" b="b" t="t" l="l"/>
              <a:pathLst>
                <a:path h="953096" w="4379416">
                  <a:moveTo>
                    <a:pt x="0" y="0"/>
                  </a:moveTo>
                  <a:lnTo>
                    <a:pt x="4379416" y="0"/>
                  </a:lnTo>
                  <a:lnTo>
                    <a:pt x="4379416" y="953096"/>
                  </a:lnTo>
                  <a:lnTo>
                    <a:pt x="0" y="953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532" r="0" b="-3953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379417" cy="1010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Academic performance</a:t>
              </a:r>
            </a:p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&amp; skills assessment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704951" y="6915150"/>
            <a:ext cx="2734494" cy="714823"/>
            <a:chOff x="0" y="0"/>
            <a:chExt cx="3645992" cy="95309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45992" cy="953096"/>
            </a:xfrm>
            <a:custGeom>
              <a:avLst/>
              <a:gdLst/>
              <a:ahLst/>
              <a:cxnLst/>
              <a:rect r="r" b="b" t="t" l="l"/>
              <a:pathLst>
                <a:path h="953096" w="3645992">
                  <a:moveTo>
                    <a:pt x="0" y="0"/>
                  </a:moveTo>
                  <a:lnTo>
                    <a:pt x="3645992" y="0"/>
                  </a:lnTo>
                  <a:lnTo>
                    <a:pt x="3645992" y="953096"/>
                  </a:lnTo>
                  <a:lnTo>
                    <a:pt x="0" y="953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538" r="0" b="-2453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3645992" cy="1010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Passion &amp; personal</a:t>
              </a:r>
            </a:p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interests alignment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06819" y="6915150"/>
            <a:ext cx="2703014" cy="714823"/>
            <a:chOff x="0" y="0"/>
            <a:chExt cx="3604019" cy="9530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04022" cy="953096"/>
            </a:xfrm>
            <a:custGeom>
              <a:avLst/>
              <a:gdLst/>
              <a:ahLst/>
              <a:cxnLst/>
              <a:rect r="r" b="b" t="t" l="l"/>
              <a:pathLst>
                <a:path h="953096" w="3604022">
                  <a:moveTo>
                    <a:pt x="0" y="0"/>
                  </a:moveTo>
                  <a:lnTo>
                    <a:pt x="3604022" y="0"/>
                  </a:lnTo>
                  <a:lnTo>
                    <a:pt x="3604022" y="953096"/>
                  </a:lnTo>
                  <a:lnTo>
                    <a:pt x="0" y="953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80" r="0" b="-236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3604019" cy="1010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Personality traits &amp;</a:t>
              </a:r>
            </a:p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cognitive style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73854" y="6915150"/>
            <a:ext cx="2813075" cy="714823"/>
            <a:chOff x="0" y="0"/>
            <a:chExt cx="3750767" cy="95309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50766" cy="953096"/>
            </a:xfrm>
            <a:custGeom>
              <a:avLst/>
              <a:gdLst/>
              <a:ahLst/>
              <a:cxnLst/>
              <a:rect r="r" b="b" t="t" l="l"/>
              <a:pathLst>
                <a:path h="953096" w="3750766">
                  <a:moveTo>
                    <a:pt x="0" y="0"/>
                  </a:moveTo>
                  <a:lnTo>
                    <a:pt x="3750766" y="0"/>
                  </a:lnTo>
                  <a:lnTo>
                    <a:pt x="3750766" y="953096"/>
                  </a:lnTo>
                  <a:lnTo>
                    <a:pt x="0" y="95309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680" r="0" b="-2668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3750767" cy="1010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Job market trends &amp;</a:t>
              </a:r>
            </a:p>
            <a:p>
              <a:pPr algn="ctr">
                <a:lnSpc>
                  <a:spcPts val="2815"/>
                </a:lnSpc>
              </a:pPr>
              <a:r>
                <a:rPr lang="en-US" sz="2025">
                  <a:solidFill>
                    <a:srgbClr val="CCE0F0"/>
                  </a:solidFill>
                  <a:latin typeface="Poppins"/>
                  <a:ea typeface="Poppins"/>
                  <a:cs typeface="Poppins"/>
                  <a:sym typeface="Poppins"/>
                </a:rPr>
                <a:t>demand outlook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511653" y="9272588"/>
            <a:ext cx="3221831" cy="257175"/>
            <a:chOff x="0" y="0"/>
            <a:chExt cx="4295775" cy="3429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95776" cy="342900"/>
            </a:xfrm>
            <a:custGeom>
              <a:avLst/>
              <a:gdLst/>
              <a:ahLst/>
              <a:cxnLst/>
              <a:rect r="r" b="b" t="t" l="l"/>
              <a:pathLst>
                <a:path h="342900" w="4295776">
                  <a:moveTo>
                    <a:pt x="0" y="0"/>
                  </a:moveTo>
                  <a:lnTo>
                    <a:pt x="4295776" y="0"/>
                  </a:lnTo>
                  <a:lnTo>
                    <a:pt x="4295776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4104" r="0" b="-1941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4295775" cy="3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COMPATIBILITY SCORE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880525" y="6182468"/>
            <a:ext cx="182832" cy="195339"/>
            <a:chOff x="0" y="0"/>
            <a:chExt cx="243776" cy="26045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40" cy="260477"/>
            </a:xfrm>
            <a:custGeom>
              <a:avLst/>
              <a:gdLst/>
              <a:ahLst/>
              <a:cxnLst/>
              <a:rect r="r" b="b" t="t" l="l"/>
              <a:pathLst>
                <a:path h="260477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60477"/>
                  </a:lnTo>
                  <a:lnTo>
                    <a:pt x="0" y="26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2" r="26" b="-6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60679" y="6192736"/>
            <a:ext cx="182832" cy="195339"/>
            <a:chOff x="0" y="0"/>
            <a:chExt cx="243776" cy="26045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" cy="260477"/>
            </a:xfrm>
            <a:custGeom>
              <a:avLst/>
              <a:gdLst/>
              <a:ahLst/>
              <a:cxnLst/>
              <a:rect r="r" b="b" t="t" l="l"/>
              <a:pathLst>
                <a:path h="260477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260477"/>
                  </a:lnTo>
                  <a:lnTo>
                    <a:pt x="0" y="26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02" r="26" b="-6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387460" y="4042696"/>
            <a:ext cx="219446" cy="277711"/>
            <a:chOff x="0" y="0"/>
            <a:chExt cx="292595" cy="3702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92608" cy="370332"/>
            </a:xfrm>
            <a:custGeom>
              <a:avLst/>
              <a:gdLst/>
              <a:ahLst/>
              <a:cxnLst/>
              <a:rect r="r" b="b" t="t" l="l"/>
              <a:pathLst>
                <a:path h="370332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370332"/>
                  </a:lnTo>
                  <a:lnTo>
                    <a:pt x="0" y="37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4" b="-3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0618" y="8671846"/>
            <a:ext cx="329060" cy="308524"/>
            <a:chOff x="0" y="0"/>
            <a:chExt cx="438747" cy="41136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38785" cy="411353"/>
            </a:xfrm>
            <a:custGeom>
              <a:avLst/>
              <a:gdLst/>
              <a:ahLst/>
              <a:cxnLst/>
              <a:rect r="r" b="b" t="t" l="l"/>
              <a:pathLst>
                <a:path h="411353" w="438785">
                  <a:moveTo>
                    <a:pt x="0" y="0"/>
                  </a:moveTo>
                  <a:lnTo>
                    <a:pt x="438785" y="0"/>
                  </a:lnTo>
                  <a:lnTo>
                    <a:pt x="438785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42" t="0" r="-1334" b="-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60618" y="7334621"/>
            <a:ext cx="329060" cy="318792"/>
            <a:chOff x="0" y="0"/>
            <a:chExt cx="438747" cy="42505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38785" cy="425069"/>
            </a:xfrm>
            <a:custGeom>
              <a:avLst/>
              <a:gdLst/>
              <a:ahLst/>
              <a:cxnLst/>
              <a:rect r="r" b="b" t="t" l="l"/>
              <a:pathLst>
                <a:path h="425069" w="438785">
                  <a:moveTo>
                    <a:pt x="0" y="0"/>
                  </a:moveTo>
                  <a:lnTo>
                    <a:pt x="438785" y="0"/>
                  </a:lnTo>
                  <a:lnTo>
                    <a:pt x="438785" y="425069"/>
                  </a:lnTo>
                  <a:lnTo>
                    <a:pt x="0" y="42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42" t="0" r="-630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0618" y="6017714"/>
            <a:ext cx="329060" cy="318792"/>
            <a:chOff x="0" y="0"/>
            <a:chExt cx="438747" cy="425056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38785" cy="425069"/>
            </a:xfrm>
            <a:custGeom>
              <a:avLst/>
              <a:gdLst/>
              <a:ahLst/>
              <a:cxnLst/>
              <a:rect r="r" b="b" t="t" l="l"/>
              <a:pathLst>
                <a:path h="425069" w="438785">
                  <a:moveTo>
                    <a:pt x="0" y="0"/>
                  </a:moveTo>
                  <a:lnTo>
                    <a:pt x="438785" y="0"/>
                  </a:lnTo>
                  <a:lnTo>
                    <a:pt x="438785" y="425069"/>
                  </a:lnTo>
                  <a:lnTo>
                    <a:pt x="0" y="42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42" t="0" r="-630" b="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0618" y="4639418"/>
            <a:ext cx="347367" cy="421700"/>
            <a:chOff x="0" y="0"/>
            <a:chExt cx="463156" cy="56226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63169" cy="562229"/>
            </a:xfrm>
            <a:custGeom>
              <a:avLst/>
              <a:gdLst/>
              <a:ahLst/>
              <a:cxnLst/>
              <a:rect r="r" b="b" t="t" l="l"/>
              <a:pathLst>
                <a:path h="562229" w="463169">
                  <a:moveTo>
                    <a:pt x="0" y="0"/>
                  </a:moveTo>
                  <a:lnTo>
                    <a:pt x="463169" y="0"/>
                  </a:lnTo>
                  <a:lnTo>
                    <a:pt x="463169" y="562229"/>
                  </a:lnTo>
                  <a:lnTo>
                    <a:pt x="0" y="562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35" t="0" r="-230" b="-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645000" y="2777357"/>
            <a:ext cx="822874" cy="874214"/>
            <a:chOff x="0" y="0"/>
            <a:chExt cx="1097166" cy="1165619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097153" cy="1165606"/>
            </a:xfrm>
            <a:custGeom>
              <a:avLst/>
              <a:gdLst/>
              <a:ahLst/>
              <a:cxnLst/>
              <a:rect r="r" b="b" t="t" l="l"/>
              <a:pathLst>
                <a:path h="1165606" w="1097153">
                  <a:moveTo>
                    <a:pt x="0" y="0"/>
                  </a:moveTo>
                  <a:lnTo>
                    <a:pt x="1097153" y="0"/>
                  </a:lnTo>
                  <a:lnTo>
                    <a:pt x="1097153" y="1165606"/>
                  </a:lnTo>
                  <a:lnTo>
                    <a:pt x="0" y="1165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366" r="-1" b="-36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32478" y="2777357"/>
            <a:ext cx="841172" cy="874214"/>
            <a:chOff x="0" y="0"/>
            <a:chExt cx="1121562" cy="1165619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21537" cy="1165606"/>
            </a:xfrm>
            <a:custGeom>
              <a:avLst/>
              <a:gdLst/>
              <a:ahLst/>
              <a:cxnLst/>
              <a:rect r="r" b="b" t="t" l="l"/>
              <a:pathLst>
                <a:path h="1165606" w="1121537">
                  <a:moveTo>
                    <a:pt x="0" y="0"/>
                  </a:moveTo>
                  <a:lnTo>
                    <a:pt x="1121537" y="0"/>
                  </a:lnTo>
                  <a:lnTo>
                    <a:pt x="1121537" y="1165606"/>
                  </a:lnTo>
                  <a:lnTo>
                    <a:pt x="0" y="1165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99" r="-2" b="-59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0100" y="1114425"/>
            <a:ext cx="16939260" cy="1061409"/>
            <a:chOff x="0" y="0"/>
            <a:chExt cx="22585680" cy="14152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585680" cy="1415202"/>
            </a:xfrm>
            <a:custGeom>
              <a:avLst/>
              <a:gdLst/>
              <a:ahLst/>
              <a:cxnLst/>
              <a:rect r="r" b="b" t="t" l="l"/>
              <a:pathLst>
                <a:path h="1415202" w="22585680">
                  <a:moveTo>
                    <a:pt x="0" y="0"/>
                  </a:moveTo>
                  <a:lnTo>
                    <a:pt x="22585680" y="0"/>
                  </a:lnTo>
                  <a:lnTo>
                    <a:pt x="22585680" y="1415202"/>
                  </a:lnTo>
                  <a:lnTo>
                    <a:pt x="0" y="1415202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80281" r="0" b="-2416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585680" cy="14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Technical Stack &amp; Features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85962" y="2857500"/>
            <a:ext cx="2160270" cy="360093"/>
            <a:chOff x="0" y="0"/>
            <a:chExt cx="2880360" cy="4801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80360" cy="480120"/>
            </a:xfrm>
            <a:custGeom>
              <a:avLst/>
              <a:gdLst/>
              <a:ahLst/>
              <a:cxnLst/>
              <a:rect r="r" b="b" t="t" l="l"/>
              <a:pathLst>
                <a:path h="480120" w="2880360">
                  <a:moveTo>
                    <a:pt x="0" y="0"/>
                  </a:moveTo>
                  <a:lnTo>
                    <a:pt x="2880360" y="0"/>
                  </a:lnTo>
                  <a:lnTo>
                    <a:pt x="2880360" y="480120"/>
                  </a:lnTo>
                  <a:lnTo>
                    <a:pt x="0" y="48012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66895" r="0" b="-668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880360" cy="5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527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43562" y="2857500"/>
            <a:ext cx="3240405" cy="360093"/>
            <a:chOff x="0" y="0"/>
            <a:chExt cx="4320540" cy="4801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20540" cy="480120"/>
            </a:xfrm>
            <a:custGeom>
              <a:avLst/>
              <a:gdLst/>
              <a:ahLst/>
              <a:cxnLst/>
              <a:rect r="r" b="b" t="t" l="l"/>
              <a:pathLst>
                <a:path h="480120" w="4320540">
                  <a:moveTo>
                    <a:pt x="0" y="0"/>
                  </a:moveTo>
                  <a:lnTo>
                    <a:pt x="4320540" y="0"/>
                  </a:lnTo>
                  <a:lnTo>
                    <a:pt x="4320540" y="480120"/>
                  </a:lnTo>
                  <a:lnTo>
                    <a:pt x="0" y="48012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25343" r="0" b="-1253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320540" cy="508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5274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Streamlit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00225" y="4557712"/>
            <a:ext cx="10184130" cy="285531"/>
            <a:chOff x="0" y="0"/>
            <a:chExt cx="13578840" cy="3807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578839" cy="380702"/>
            </a:xfrm>
            <a:custGeom>
              <a:avLst/>
              <a:gdLst/>
              <a:ahLst/>
              <a:cxnLst/>
              <a:rect r="r" b="b" t="t" l="l"/>
              <a:pathLst>
                <a:path h="380702" w="13578839">
                  <a:moveTo>
                    <a:pt x="0" y="0"/>
                  </a:moveTo>
                  <a:lnTo>
                    <a:pt x="13578839" y="0"/>
                  </a:lnTo>
                  <a:lnTo>
                    <a:pt x="13578839" y="380702"/>
                  </a:lnTo>
                  <a:lnTo>
                    <a:pt x="0" y="380702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644989" r="0" b="-64499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3578840" cy="38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Interactive Student Profile Input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00225" y="5843588"/>
            <a:ext cx="8332470" cy="285531"/>
            <a:chOff x="0" y="0"/>
            <a:chExt cx="11109960" cy="3807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109960" cy="380702"/>
            </a:xfrm>
            <a:custGeom>
              <a:avLst/>
              <a:gdLst/>
              <a:ahLst/>
              <a:cxnLst/>
              <a:rect r="r" b="b" t="t" l="l"/>
              <a:pathLst>
                <a:path h="380702" w="11109960">
                  <a:moveTo>
                    <a:pt x="0" y="0"/>
                  </a:moveTo>
                  <a:lnTo>
                    <a:pt x="11109960" y="0"/>
                  </a:lnTo>
                  <a:lnTo>
                    <a:pt x="11109960" y="380702"/>
                  </a:lnTo>
                  <a:lnTo>
                    <a:pt x="0" y="380702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518627" r="0" b="-5186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1109960" cy="38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Real-Time Scoring &amp; Ranking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00225" y="7172325"/>
            <a:ext cx="5554980" cy="285531"/>
            <a:chOff x="0" y="0"/>
            <a:chExt cx="7406640" cy="3807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06640" cy="380702"/>
            </a:xfrm>
            <a:custGeom>
              <a:avLst/>
              <a:gdLst/>
              <a:ahLst/>
              <a:cxnLst/>
              <a:rect r="r" b="b" t="t" l="l"/>
              <a:pathLst>
                <a:path h="380702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380702"/>
                  </a:lnTo>
                  <a:lnTo>
                    <a:pt x="0" y="380702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29084" r="0" b="-3290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406640" cy="38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Explanation Module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00225" y="8458200"/>
            <a:ext cx="5246370" cy="285531"/>
            <a:chOff x="0" y="0"/>
            <a:chExt cx="6995160" cy="3807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95160" cy="380702"/>
            </a:xfrm>
            <a:custGeom>
              <a:avLst/>
              <a:gdLst/>
              <a:ahLst/>
              <a:cxnLst/>
              <a:rect r="r" b="b" t="t" l="l"/>
              <a:pathLst>
                <a:path h="380702" w="6995160">
                  <a:moveTo>
                    <a:pt x="0" y="0"/>
                  </a:moveTo>
                  <a:lnTo>
                    <a:pt x="6995160" y="0"/>
                  </a:lnTo>
                  <a:lnTo>
                    <a:pt x="6995160" y="380702"/>
                  </a:lnTo>
                  <a:lnTo>
                    <a:pt x="0" y="380702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08024" r="0" b="-3080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995160" cy="380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20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Validation Module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58488" y="4086225"/>
            <a:ext cx="5469255" cy="188643"/>
            <a:chOff x="0" y="0"/>
            <a:chExt cx="7292340" cy="2515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92340" cy="251520"/>
            </a:xfrm>
            <a:custGeom>
              <a:avLst/>
              <a:gdLst/>
              <a:ahLst/>
              <a:cxnLst/>
              <a:rect r="r" b="b" t="t" l="l"/>
              <a:pathLst>
                <a:path h="251520" w="7292340">
                  <a:moveTo>
                    <a:pt x="0" y="0"/>
                  </a:moveTo>
                  <a:lnTo>
                    <a:pt x="7292340" y="0"/>
                  </a:lnTo>
                  <a:lnTo>
                    <a:pt x="7292340" y="251520"/>
                  </a:lnTo>
                  <a:lnTo>
                    <a:pt x="0" y="25152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514930" r="0" b="-51493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292340" cy="261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85"/>
                </a:lnSpc>
              </a:pPr>
              <a:r>
                <a:rPr lang="en-US" sz="12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Input Validation &amp; Robustness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00100" y="642938"/>
            <a:ext cx="6972300" cy="342900"/>
            <a:chOff x="0" y="0"/>
            <a:chExt cx="92964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9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92964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8D99AE"/>
                  </a:solidFill>
                  <a:latin typeface="Poppins"/>
                  <a:ea typeface="Poppins"/>
                  <a:cs typeface="Poppins"/>
                  <a:sym typeface="Poppins"/>
                </a:rPr>
                <a:t>05 • Implementation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65769" y="3214688"/>
            <a:ext cx="3929062" cy="257175"/>
            <a:chOff x="0" y="0"/>
            <a:chExt cx="5238750" cy="3429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38750" cy="342900"/>
            </a:xfrm>
            <a:custGeom>
              <a:avLst/>
              <a:gdLst/>
              <a:ahLst/>
              <a:cxnLst/>
              <a:rect r="r" b="b" t="t" l="l"/>
              <a:pathLst>
                <a:path h="342900" w="5238750">
                  <a:moveTo>
                    <a:pt x="0" y="0"/>
                  </a:moveTo>
                  <a:lnTo>
                    <a:pt x="5238750" y="0"/>
                  </a:lnTo>
                  <a:lnTo>
                    <a:pt x="5238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47688" r="0" b="-24768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238750" cy="3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5BCEFA"/>
                  </a:solidFill>
                  <a:latin typeface="Poppins"/>
                  <a:ea typeface="Poppins"/>
                  <a:cs typeface="Poppins"/>
                  <a:sym typeface="Poppins"/>
                </a:rPr>
                <a:t>Live System • Validation Screen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85962" y="3357562"/>
            <a:ext cx="3343275" cy="257175"/>
            <a:chOff x="0" y="0"/>
            <a:chExt cx="4457700" cy="342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57700" cy="342900"/>
            </a:xfrm>
            <a:custGeom>
              <a:avLst/>
              <a:gdLst/>
              <a:ahLst/>
              <a:cxnLst/>
              <a:rect r="r" b="b" t="t" l="l"/>
              <a:pathLst>
                <a:path h="342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4457700" cy="3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74D"/>
                  </a:solidFill>
                  <a:latin typeface="Poppins"/>
                  <a:ea typeface="Poppins"/>
                  <a:cs typeface="Poppins"/>
                  <a:sym typeface="Poppins"/>
                </a:rPr>
                <a:t>Core Language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643562" y="3357562"/>
            <a:ext cx="3343275" cy="257175"/>
            <a:chOff x="0" y="0"/>
            <a:chExt cx="4457700" cy="3429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57700" cy="342900"/>
            </a:xfrm>
            <a:custGeom>
              <a:avLst/>
              <a:gdLst/>
              <a:ahLst/>
              <a:cxnLst/>
              <a:rect r="r" b="b" t="t" l="l"/>
              <a:pathLst>
                <a:path h="342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457700" cy="3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74D"/>
                  </a:solidFill>
                  <a:latin typeface="Poppins"/>
                  <a:ea typeface="Poppins"/>
                  <a:cs typeface="Poppins"/>
                  <a:sym typeface="Poppins"/>
                </a:rPr>
                <a:t>Web Framework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800225" y="4957762"/>
            <a:ext cx="16487775" cy="222799"/>
            <a:chOff x="0" y="0"/>
            <a:chExt cx="21983700" cy="2970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83700" cy="297060"/>
            </a:xfrm>
            <a:custGeom>
              <a:avLst/>
              <a:gdLst/>
              <a:ahLst/>
              <a:cxnLst/>
              <a:rect r="r" b="b" t="t" l="l"/>
              <a:pathLst>
                <a:path h="297060" w="21983700">
                  <a:moveTo>
                    <a:pt x="0" y="0"/>
                  </a:moveTo>
                  <a:lnTo>
                    <a:pt x="21983700" y="0"/>
                  </a:lnTo>
                  <a:lnTo>
                    <a:pt x="21983700" y="297060"/>
                  </a:lnTo>
                  <a:lnTo>
                    <a:pt x="0" y="29706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391974" r="0" b="-13919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1983700" cy="30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Collects academic, interest, and personality data through a guided form interface.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800225" y="6272212"/>
            <a:ext cx="16270605" cy="222799"/>
            <a:chOff x="0" y="0"/>
            <a:chExt cx="21694140" cy="29706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694139" cy="297060"/>
            </a:xfrm>
            <a:custGeom>
              <a:avLst/>
              <a:gdLst/>
              <a:ahLst/>
              <a:cxnLst/>
              <a:rect r="r" b="b" t="t" l="l"/>
              <a:pathLst>
                <a:path h="297060" w="21694139">
                  <a:moveTo>
                    <a:pt x="0" y="0"/>
                  </a:moveTo>
                  <a:lnTo>
                    <a:pt x="21694139" y="0"/>
                  </a:lnTo>
                  <a:lnTo>
                    <a:pt x="21694139" y="297060"/>
                  </a:lnTo>
                  <a:lnTo>
                    <a:pt x="0" y="29706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372981" r="0" b="-137298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1694140" cy="30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Calculates compatibility scores instantly and ranks the top three majors.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800225" y="7586662"/>
            <a:ext cx="16487775" cy="222799"/>
            <a:chOff x="0" y="0"/>
            <a:chExt cx="21983700" cy="29706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83700" cy="297060"/>
            </a:xfrm>
            <a:custGeom>
              <a:avLst/>
              <a:gdLst/>
              <a:ahLst/>
              <a:cxnLst/>
              <a:rect r="r" b="b" t="t" l="l"/>
              <a:pathLst>
                <a:path h="297060" w="21983700">
                  <a:moveTo>
                    <a:pt x="0" y="0"/>
                  </a:moveTo>
                  <a:lnTo>
                    <a:pt x="21983700" y="0"/>
                  </a:lnTo>
                  <a:lnTo>
                    <a:pt x="21983700" y="297060"/>
                  </a:lnTo>
                  <a:lnTo>
                    <a:pt x="0" y="29706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391974" r="0" b="-13919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1983700" cy="30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Provides transparent reasoning for the top recommendation to build user trust.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800225" y="8886825"/>
            <a:ext cx="15824835" cy="222799"/>
            <a:chOff x="0" y="0"/>
            <a:chExt cx="21099780" cy="29706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099780" cy="297060"/>
            </a:xfrm>
            <a:custGeom>
              <a:avLst/>
              <a:gdLst/>
              <a:ahLst/>
              <a:cxnLst/>
              <a:rect r="r" b="b" t="t" l="l"/>
              <a:pathLst>
                <a:path h="297060" w="21099780">
                  <a:moveTo>
                    <a:pt x="0" y="0"/>
                  </a:moveTo>
                  <a:lnTo>
                    <a:pt x="21099780" y="0"/>
                  </a:lnTo>
                  <a:lnTo>
                    <a:pt x="21099780" y="297060"/>
                  </a:lnTo>
                  <a:lnTo>
                    <a:pt x="0" y="29706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333995" r="0" b="-13339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21099780" cy="30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Detects conflicting or noisy inputs — the adversarial robustness layer.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587038" y="4557712"/>
            <a:ext cx="7700962" cy="137074"/>
            <a:chOff x="0" y="0"/>
            <a:chExt cx="10267950" cy="18276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67950" cy="182760"/>
            </a:xfrm>
            <a:custGeom>
              <a:avLst/>
              <a:gdLst/>
              <a:ahLst/>
              <a:cxnLst/>
              <a:rect r="r" b="b" t="t" l="l"/>
              <a:pathLst>
                <a:path h="18276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82760"/>
                  </a:lnTo>
                  <a:lnTo>
                    <a:pt x="0" y="18276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044720" r="0" b="-10447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10267950" cy="182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"/>
                </a:lnSpc>
              </a:pPr>
              <a:r>
                <a:rPr lang="en-US" sz="900">
                  <a:solidFill>
                    <a:srgbClr val="A7F3D0"/>
                  </a:solidFill>
                  <a:latin typeface="Poppins"/>
                  <a:ea typeface="Poppins"/>
                  <a:cs typeface="Poppins"/>
                  <a:sym typeface="Poppins"/>
                </a:rPr>
                <a:t>No input inconsistencies detected. The profile is ready for recommendation.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758488" y="5143500"/>
            <a:ext cx="2640330" cy="133055"/>
            <a:chOff x="0" y="0"/>
            <a:chExt cx="3520440" cy="17740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20440" cy="177404"/>
            </a:xfrm>
            <a:custGeom>
              <a:avLst/>
              <a:gdLst/>
              <a:ahLst/>
              <a:cxnLst/>
              <a:rect r="r" b="b" t="t" l="l"/>
              <a:pathLst>
                <a:path h="177404" w="3520440">
                  <a:moveTo>
                    <a:pt x="0" y="0"/>
                  </a:moveTo>
                  <a:lnTo>
                    <a:pt x="3520440" y="0"/>
                  </a:lnTo>
                  <a:lnTo>
                    <a:pt x="3520440" y="177404"/>
                  </a:lnTo>
                  <a:lnTo>
                    <a:pt x="0" y="177404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336664" r="0" b="-33666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3520440" cy="196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47"/>
                </a:lnSpc>
              </a:pPr>
              <a:r>
                <a:rPr lang="en-US" sz="7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Why validation matters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587038" y="5800725"/>
            <a:ext cx="3429000" cy="255832"/>
            <a:chOff x="0" y="0"/>
            <a:chExt cx="4572000" cy="34110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2000" cy="341114"/>
            </a:xfrm>
            <a:custGeom>
              <a:avLst/>
              <a:gdLst/>
              <a:ahLst/>
              <a:cxnLst/>
              <a:rect r="r" b="b" t="t" l="l"/>
              <a:pathLst>
                <a:path h="34111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41114"/>
                  </a:lnTo>
                  <a:lnTo>
                    <a:pt x="0" y="341114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211161" r="0" b="-21116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85725"/>
              <a:ext cx="4572000" cy="426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4"/>
                </a:lnSpc>
              </a:pPr>
              <a:r>
                <a:rPr lang="en-US" sz="11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Save Student Profile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058900" y="6143625"/>
            <a:ext cx="3840480" cy="152029"/>
            <a:chOff x="0" y="0"/>
            <a:chExt cx="5120640" cy="20270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202704"/>
            </a:xfrm>
            <a:custGeom>
              <a:avLst/>
              <a:gdLst/>
              <a:ahLst/>
              <a:cxnLst/>
              <a:rect r="r" b="b" t="t" l="l"/>
              <a:pathLst>
                <a:path h="20270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2704"/>
                  </a:lnTo>
                  <a:lnTo>
                    <a:pt x="0" y="202704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442224" r="0" b="-4422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5120640" cy="212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7"/>
                </a:lnSpc>
              </a:pPr>
              <a:r>
                <a:rPr lang="en-US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Reset Recommendation Results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587038" y="5457825"/>
            <a:ext cx="7339308" cy="250031"/>
            <a:chOff x="0" y="0"/>
            <a:chExt cx="9785744" cy="3333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85746" cy="333376"/>
            </a:xfrm>
            <a:custGeom>
              <a:avLst/>
              <a:gdLst/>
              <a:ahLst/>
              <a:cxnLst/>
              <a:rect r="r" b="b" t="t" l="l"/>
              <a:pathLst>
                <a:path h="333376" w="9785746">
                  <a:moveTo>
                    <a:pt x="0" y="0"/>
                  </a:moveTo>
                  <a:lnTo>
                    <a:pt x="9785746" y="0"/>
                  </a:lnTo>
                  <a:lnTo>
                    <a:pt x="9785746" y="333376"/>
                  </a:lnTo>
                  <a:lnTo>
                    <a:pt x="0" y="333376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521953" r="0" b="-52195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9785744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4"/>
                </a:lnSpc>
              </a:pPr>
              <a:r>
                <a:rPr lang="en-US" sz="7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This module helps the system handle noisy, inconsistent, or extreme inputs. It improves robustness and supports the</a:t>
              </a:r>
            </a:p>
            <a:p>
              <a:pPr algn="l">
                <a:lnSpc>
                  <a:spcPts val="984"/>
                </a:lnSpc>
              </a:pPr>
              <a:r>
                <a:rPr lang="en-US" sz="7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adversarial handling part of the project.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0041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6846" y="7684218"/>
            <a:ext cx="402279" cy="431968"/>
            <a:chOff x="0" y="0"/>
            <a:chExt cx="536372" cy="575958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536321" cy="575945"/>
            </a:xfrm>
            <a:custGeom>
              <a:avLst/>
              <a:gdLst/>
              <a:ahLst/>
              <a:cxnLst/>
              <a:rect r="r" b="b" t="t" l="l"/>
              <a:pathLst>
                <a:path h="575945" w="536321">
                  <a:moveTo>
                    <a:pt x="0" y="0"/>
                  </a:moveTo>
                  <a:lnTo>
                    <a:pt x="536321" y="0"/>
                  </a:lnTo>
                  <a:lnTo>
                    <a:pt x="536321" y="575945"/>
                  </a:lnTo>
                  <a:lnTo>
                    <a:pt x="0" y="575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" t="0" r="-120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88539" y="5277221"/>
            <a:ext cx="438893" cy="431968"/>
            <a:chOff x="0" y="0"/>
            <a:chExt cx="585191" cy="57595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585216" cy="575945"/>
            </a:xfrm>
            <a:custGeom>
              <a:avLst/>
              <a:gdLst/>
              <a:ahLst/>
              <a:cxnLst/>
              <a:rect r="r" b="b" t="t" l="l"/>
              <a:pathLst>
                <a:path h="575945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75945"/>
                  </a:lnTo>
                  <a:lnTo>
                    <a:pt x="0" y="575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00" r="4" b="-80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6846" y="3096368"/>
            <a:ext cx="438893" cy="411432"/>
            <a:chOff x="0" y="0"/>
            <a:chExt cx="585191" cy="54857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85216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9" t="0" r="-217" b="1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838" y="1485900"/>
            <a:ext cx="14813280" cy="617268"/>
            <a:chOff x="0" y="0"/>
            <a:chExt cx="19751040" cy="823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751039" cy="823020"/>
            </a:xfrm>
            <a:custGeom>
              <a:avLst/>
              <a:gdLst/>
              <a:ahLst/>
              <a:cxnLst/>
              <a:rect r="r" b="b" t="t" l="l"/>
              <a:pathLst>
                <a:path h="8230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823020"/>
                  </a:lnTo>
                  <a:lnTo>
                    <a:pt x="0" y="8230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7606" r="0" b="-4176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751040" cy="8420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the System Delivers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0225" y="3086100"/>
            <a:ext cx="3929062" cy="846982"/>
            <a:chOff x="0" y="0"/>
            <a:chExt cx="5238750" cy="11293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38750" cy="1129308"/>
            </a:xfrm>
            <a:custGeom>
              <a:avLst/>
              <a:gdLst/>
              <a:ahLst/>
              <a:cxnLst/>
              <a:rect r="r" b="b" t="t" l="l"/>
              <a:pathLst>
                <a:path h="1129308" w="5238750">
                  <a:moveTo>
                    <a:pt x="0" y="0"/>
                  </a:moveTo>
                  <a:lnTo>
                    <a:pt x="5238750" y="0"/>
                  </a:lnTo>
                  <a:lnTo>
                    <a:pt x="5238750" y="1129308"/>
                  </a:lnTo>
                  <a:lnTo>
                    <a:pt x="0" y="11293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389" r="0" b="-403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238750" cy="121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4"/>
                </a:lnSpc>
              </a:pPr>
              <a:r>
                <a:rPr lang="en-US" sz="213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Top Recommendations</a:t>
              </a:r>
            </a:p>
            <a:p>
              <a:pPr algn="l">
                <a:lnSpc>
                  <a:spcPts val="3334"/>
                </a:lnSpc>
              </a:pPr>
              <a:r>
                <a:rPr lang="en-US" sz="213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Top 3 Majors Displayed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0225" y="5300662"/>
            <a:ext cx="4431802" cy="891626"/>
            <a:chOff x="0" y="0"/>
            <a:chExt cx="5909069" cy="1188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09072" cy="1188840"/>
            </a:xfrm>
            <a:custGeom>
              <a:avLst/>
              <a:gdLst/>
              <a:ahLst/>
              <a:cxnLst/>
              <a:rect r="r" b="b" t="t" l="l"/>
              <a:pathLst>
                <a:path h="1188840" w="5909072">
                  <a:moveTo>
                    <a:pt x="0" y="0"/>
                  </a:moveTo>
                  <a:lnTo>
                    <a:pt x="5909072" y="0"/>
                  </a:lnTo>
                  <a:lnTo>
                    <a:pt x="5909072" y="1188840"/>
                  </a:lnTo>
                  <a:lnTo>
                    <a:pt x="0" y="11888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849" r="0" b="-468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5909069" cy="1284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Explainability</a:t>
              </a:r>
            </a:p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Reasoning You Can Trust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0225" y="7672388"/>
            <a:ext cx="4714875" cy="891626"/>
            <a:chOff x="0" y="0"/>
            <a:chExt cx="6286500" cy="11888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86500" cy="1188840"/>
            </a:xfrm>
            <a:custGeom>
              <a:avLst/>
              <a:gdLst/>
              <a:ahLst/>
              <a:cxnLst/>
              <a:rect r="r" b="b" t="t" l="l"/>
              <a:pathLst>
                <a:path h="118884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1188840"/>
                  </a:lnTo>
                  <a:lnTo>
                    <a:pt x="0" y="11888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035" r="0" b="-530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6286500" cy="1284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Validation &amp; Robustness</a:t>
              </a:r>
            </a:p>
            <a:p>
              <a:pPr algn="l">
                <a:lnSpc>
                  <a:spcPts val="351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Handles Conflicting Inputs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67754" y="2486025"/>
            <a:ext cx="2938758" cy="214312"/>
            <a:chOff x="0" y="0"/>
            <a:chExt cx="3918344" cy="2857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18346" cy="285750"/>
            </a:xfrm>
            <a:custGeom>
              <a:avLst/>
              <a:gdLst/>
              <a:ahLst/>
              <a:cxnLst/>
              <a:rect r="r" b="b" t="t" l="l"/>
              <a:pathLst>
                <a:path h="285750" w="3918346">
                  <a:moveTo>
                    <a:pt x="0" y="0"/>
                  </a:moveTo>
                  <a:lnTo>
                    <a:pt x="3918346" y="0"/>
                  </a:lnTo>
                  <a:lnTo>
                    <a:pt x="3918346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7188" r="0" b="-2171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3918344" cy="266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7"/>
                </a:lnSpc>
              </a:pPr>
              <a:r>
                <a:rPr lang="en-US" sz="1687" b="true">
                  <a:solidFill>
                    <a:srgbClr val="5E71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LIVE SYSTEM OUTPUT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5838" y="1128712"/>
            <a:ext cx="6172200" cy="324145"/>
            <a:chOff x="0" y="0"/>
            <a:chExt cx="8229600" cy="4321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432196"/>
            </a:xfrm>
            <a:custGeom>
              <a:avLst/>
              <a:gdLst/>
              <a:ahLst/>
              <a:cxnLst/>
              <a:rect r="r" b="b" t="t" l="l"/>
              <a:pathLst>
                <a:path h="43219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32196"/>
                  </a:lnTo>
                  <a:lnTo>
                    <a:pt x="0" y="4321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1021" r="0" b="-32102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229600" cy="4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5E71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 &amp; DISCUSSION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00225" y="4114800"/>
            <a:ext cx="6522244" cy="444256"/>
            <a:chOff x="0" y="0"/>
            <a:chExt cx="8696325" cy="5923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96326" cy="592336"/>
            </a:xfrm>
            <a:custGeom>
              <a:avLst/>
              <a:gdLst/>
              <a:ahLst/>
              <a:cxnLst/>
              <a:rect r="r" b="b" t="t" l="l"/>
              <a:pathLst>
                <a:path h="592336" w="8696326">
                  <a:moveTo>
                    <a:pt x="0" y="0"/>
                  </a:moveTo>
                  <a:lnTo>
                    <a:pt x="8696326" y="0"/>
                  </a:lnTo>
                  <a:lnTo>
                    <a:pt x="8696326" y="592336"/>
                  </a:lnTo>
                  <a:lnTo>
                    <a:pt x="0" y="5923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6067" r="0" b="-2360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8696325" cy="5923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8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Each major was scored and ranked in real time using the</a:t>
              </a:r>
            </a:p>
            <a:p>
              <a:pPr algn="l">
                <a:lnSpc>
                  <a:spcPts val="1748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student's full profile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32143" y="6342526"/>
            <a:ext cx="6726507" cy="666379"/>
            <a:chOff x="0" y="0"/>
            <a:chExt cx="8968676" cy="8885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8680" cy="888504"/>
            </a:xfrm>
            <a:custGeom>
              <a:avLst/>
              <a:gdLst/>
              <a:ahLst/>
              <a:cxnLst/>
              <a:rect r="r" b="b" t="t" l="l"/>
              <a:pathLst>
                <a:path h="888504" w="8968680">
                  <a:moveTo>
                    <a:pt x="0" y="0"/>
                  </a:moveTo>
                  <a:lnTo>
                    <a:pt x="8968680" y="0"/>
                  </a:lnTo>
                  <a:lnTo>
                    <a:pt x="8968680" y="888504"/>
                  </a:lnTo>
                  <a:lnTo>
                    <a:pt x="0" y="8885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6684" r="0" b="-1466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968676" cy="898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The #1 recommendation includes a plain-language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justification covering academic fit, personality match, and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market demand.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22091" y="8660787"/>
            <a:ext cx="6836569" cy="444256"/>
            <a:chOff x="0" y="0"/>
            <a:chExt cx="9115425" cy="5923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15426" cy="592336"/>
            </a:xfrm>
            <a:custGeom>
              <a:avLst/>
              <a:gdLst/>
              <a:ahLst/>
              <a:cxnLst/>
              <a:rect r="r" b="b" t="t" l="l"/>
              <a:pathLst>
                <a:path h="592336" w="9115426">
                  <a:moveTo>
                    <a:pt x="0" y="0"/>
                  </a:moveTo>
                  <a:lnTo>
                    <a:pt x="9115426" y="0"/>
                  </a:lnTo>
                  <a:lnTo>
                    <a:pt x="9115426" y="592336"/>
                  </a:lnTo>
                  <a:lnTo>
                    <a:pt x="0" y="5923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9853" r="0" b="-2498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115425" cy="601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Validation module flags contradictions — e.g., strong math 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skills paired with a dislike for logic — before scoring begins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28625" y="171450"/>
            <a:ext cx="2651760" cy="322364"/>
            <a:chOff x="0" y="0"/>
            <a:chExt cx="3535680" cy="429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35680" cy="429816"/>
            </a:xfrm>
            <a:custGeom>
              <a:avLst/>
              <a:gdLst/>
              <a:ahLst/>
              <a:cxnLst/>
              <a:rect r="r" b="b" t="t" l="l"/>
              <a:pathLst>
                <a:path h="42981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429816"/>
                  </a:lnTo>
                  <a:lnTo>
                    <a:pt x="0" y="4298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0284" r="0" b="-11028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535680" cy="48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8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06 / 07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600700" y="3157538"/>
            <a:ext cx="3120390" cy="222123"/>
            <a:chOff x="0" y="0"/>
            <a:chExt cx="4160520" cy="2961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60520" cy="296168"/>
            </a:xfrm>
            <a:custGeom>
              <a:avLst/>
              <a:gdLst/>
              <a:ahLst/>
              <a:cxnLst/>
              <a:rect r="r" b="b" t="t" l="l"/>
              <a:pathLst>
                <a:path h="296168" w="4160520">
                  <a:moveTo>
                    <a:pt x="0" y="0"/>
                  </a:moveTo>
                  <a:lnTo>
                    <a:pt x="4160520" y="0"/>
                  </a:lnTo>
                  <a:lnTo>
                    <a:pt x="4160520" y="296168"/>
                  </a:lnTo>
                  <a:lnTo>
                    <a:pt x="0" y="2961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3723" r="0" b="-22372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160520" cy="296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8"/>
                </a:lnSpc>
              </a:pPr>
              <a:r>
                <a:rPr lang="en-US" sz="1575" b="true">
                  <a:solidFill>
                    <a:srgbClr val="5E71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RANKED OUTPUT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729288" y="5508503"/>
            <a:ext cx="3600450" cy="237973"/>
            <a:chOff x="0" y="0"/>
            <a:chExt cx="4800600" cy="3172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00600" cy="317302"/>
            </a:xfrm>
            <a:custGeom>
              <a:avLst/>
              <a:gdLst/>
              <a:ahLst/>
              <a:cxnLst/>
              <a:rect r="r" b="b" t="t" l="l"/>
              <a:pathLst>
                <a:path h="317302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317302"/>
                  </a:lnTo>
                  <a:lnTo>
                    <a:pt x="0" y="31730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4798" r="0" b="-2447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800600" cy="317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3"/>
                </a:lnSpc>
              </a:pPr>
              <a:r>
                <a:rPr lang="en-US" sz="1687" b="true">
                  <a:solidFill>
                    <a:srgbClr val="5E71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EXPLAINABILITY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986462" y="7743825"/>
            <a:ext cx="2571750" cy="237973"/>
            <a:chOff x="0" y="0"/>
            <a:chExt cx="3429000" cy="3172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29000" cy="317302"/>
            </a:xfrm>
            <a:custGeom>
              <a:avLst/>
              <a:gdLst/>
              <a:ahLst/>
              <a:cxnLst/>
              <a:rect r="r" b="b" t="t" l="l"/>
              <a:pathLst>
                <a:path h="317302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317302"/>
                  </a:lnTo>
                  <a:lnTo>
                    <a:pt x="0" y="31730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0570" r="0" b="-1605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429000" cy="317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73"/>
                </a:lnSpc>
              </a:pPr>
              <a:r>
                <a:rPr lang="en-US" sz="1687" b="true">
                  <a:solidFill>
                    <a:srgbClr val="5E71E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ROBUSTNESS</a:t>
              </a:r>
            </a:p>
          </p:txBody>
        </p:sp>
      </p:grpSp>
      <p:pic>
        <p:nvPicPr>
          <p:cNvPr name="Picture 49" id="49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8271135" y="3081338"/>
            <a:ext cx="9497398" cy="50368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57032" y="7191299"/>
            <a:ext cx="658339" cy="709689"/>
            <a:chOff x="0" y="0"/>
            <a:chExt cx="877786" cy="94625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77824" cy="946277"/>
            </a:xfrm>
            <a:custGeom>
              <a:avLst/>
              <a:gdLst/>
              <a:ahLst/>
              <a:cxnLst/>
              <a:rect r="r" b="b" t="t" l="l"/>
              <a:pathLst>
                <a:path h="946277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46277"/>
                  </a:lnTo>
                  <a:lnTo>
                    <a:pt x="0" y="946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0" t="0" r="-594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57032" y="5719239"/>
            <a:ext cx="658339" cy="699421"/>
            <a:chOff x="0" y="0"/>
            <a:chExt cx="877786" cy="932561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77824" cy="932561"/>
            </a:xfrm>
            <a:custGeom>
              <a:avLst/>
              <a:gdLst/>
              <a:ahLst/>
              <a:cxnLst/>
              <a:rect r="r" b="b" t="t" l="l"/>
              <a:pathLst>
                <a:path h="932561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32561"/>
                  </a:lnTo>
                  <a:lnTo>
                    <a:pt x="0" y="932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07" t="0" r="-90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93646" y="4176417"/>
            <a:ext cx="621725" cy="689143"/>
            <a:chOff x="0" y="0"/>
            <a:chExt cx="828967" cy="91885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28929" cy="918845"/>
            </a:xfrm>
            <a:custGeom>
              <a:avLst/>
              <a:gdLst/>
              <a:ahLst/>
              <a:cxnLst/>
              <a:rect r="r" b="b" t="t" l="l"/>
              <a:pathLst>
                <a:path h="918845" w="828929">
                  <a:moveTo>
                    <a:pt x="0" y="0"/>
                  </a:moveTo>
                  <a:lnTo>
                    <a:pt x="828929" y="0"/>
                  </a:lnTo>
                  <a:lnTo>
                    <a:pt x="828929" y="918845"/>
                  </a:lnTo>
                  <a:lnTo>
                    <a:pt x="0" y="918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53" r="-4" b="-3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84032" y="3281439"/>
            <a:ext cx="420586" cy="411432"/>
            <a:chOff x="0" y="0"/>
            <a:chExt cx="560781" cy="54857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6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560832">
                  <a:moveTo>
                    <a:pt x="0" y="0"/>
                  </a:moveTo>
                  <a:lnTo>
                    <a:pt x="560832" y="0"/>
                  </a:lnTo>
                  <a:lnTo>
                    <a:pt x="560832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58" t="0" r="-649" b="1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6846" y="3281439"/>
            <a:ext cx="402279" cy="421700"/>
            <a:chOff x="0" y="0"/>
            <a:chExt cx="536372" cy="56226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36321" cy="562229"/>
            </a:xfrm>
            <a:custGeom>
              <a:avLst/>
              <a:gdLst/>
              <a:ahLst/>
              <a:cxnLst/>
              <a:rect r="r" b="b" t="t" l="l"/>
              <a:pathLst>
                <a:path h="562229" w="536321">
                  <a:moveTo>
                    <a:pt x="0" y="0"/>
                  </a:moveTo>
                  <a:lnTo>
                    <a:pt x="536321" y="0"/>
                  </a:lnTo>
                  <a:lnTo>
                    <a:pt x="536321" y="562229"/>
                  </a:lnTo>
                  <a:lnTo>
                    <a:pt x="0" y="562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06" t="0" r="-618" b="-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520567" y="596503"/>
            <a:ext cx="2889418" cy="2479100"/>
            <a:chOff x="0" y="0"/>
            <a:chExt cx="3852558" cy="330546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852545" cy="3305429"/>
            </a:xfrm>
            <a:custGeom>
              <a:avLst/>
              <a:gdLst/>
              <a:ahLst/>
              <a:cxnLst/>
              <a:rect r="r" b="b" t="t" l="l"/>
              <a:pathLst>
                <a:path h="3305429" w="3852545">
                  <a:moveTo>
                    <a:pt x="0" y="0"/>
                  </a:moveTo>
                  <a:lnTo>
                    <a:pt x="3852545" y="0"/>
                  </a:lnTo>
                  <a:lnTo>
                    <a:pt x="3852545" y="3305429"/>
                  </a:lnTo>
                  <a:lnTo>
                    <a:pt x="0" y="3305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90" t="0" r="-91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5838" y="1314450"/>
            <a:ext cx="17302162" cy="816178"/>
            <a:chOff x="0" y="0"/>
            <a:chExt cx="23069550" cy="10882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69550" cy="1088232"/>
            </a:xfrm>
            <a:custGeom>
              <a:avLst/>
              <a:gdLst/>
              <a:ahLst/>
              <a:cxnLst/>
              <a:rect r="r" b="b" t="t" l="l"/>
              <a:pathLst>
                <a:path h="1088232" w="23069550">
                  <a:moveTo>
                    <a:pt x="0" y="0"/>
                  </a:moveTo>
                  <a:lnTo>
                    <a:pt x="23069550" y="0"/>
                  </a:lnTo>
                  <a:lnTo>
                    <a:pt x="23069550" y="1088232"/>
                  </a:lnTo>
                  <a:lnTo>
                    <a:pt x="0" y="108823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3065" r="0" b="-3630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3069550" cy="1145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25"/>
                </a:lnSpc>
              </a:pPr>
              <a:r>
                <a:rPr lang="en-US" sz="5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 &amp; Future Work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09125" y="3281439"/>
            <a:ext cx="3943350" cy="460105"/>
            <a:chOff x="0" y="0"/>
            <a:chExt cx="5257800" cy="6134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57800" cy="613470"/>
            </a:xfrm>
            <a:custGeom>
              <a:avLst/>
              <a:gdLst/>
              <a:ahLst/>
              <a:cxnLst/>
              <a:rect r="r" b="b" t="t" l="l"/>
              <a:pathLst>
                <a:path h="61347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613470"/>
                  </a:lnTo>
                  <a:lnTo>
                    <a:pt x="0" y="61347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6997" r="0" b="-1169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257800" cy="68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2"/>
                </a:lnSpc>
              </a:pPr>
              <a:r>
                <a:rPr lang="en-US" sz="2587" b="true">
                  <a:solidFill>
                    <a:srgbClr val="3498D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01288" y="3271838"/>
            <a:ext cx="4337685" cy="460105"/>
            <a:chOff x="0" y="0"/>
            <a:chExt cx="5783580" cy="6134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83580" cy="613470"/>
            </a:xfrm>
            <a:custGeom>
              <a:avLst/>
              <a:gdLst/>
              <a:ahLst/>
              <a:cxnLst/>
              <a:rect r="r" b="b" t="t" l="l"/>
              <a:pathLst>
                <a:path h="613470" w="5783580">
                  <a:moveTo>
                    <a:pt x="0" y="0"/>
                  </a:moveTo>
                  <a:lnTo>
                    <a:pt x="5783580" y="0"/>
                  </a:lnTo>
                  <a:lnTo>
                    <a:pt x="5783580" y="613470"/>
                  </a:lnTo>
                  <a:lnTo>
                    <a:pt x="0" y="61347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33697" r="0" b="-13369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5783580" cy="68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2"/>
                </a:lnSpc>
              </a:pPr>
              <a:r>
                <a:rPr lang="en-US" sz="2587" b="true">
                  <a:solidFill>
                    <a:srgbClr val="FBC94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WORK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3025" y="4300538"/>
            <a:ext cx="7166524" cy="2464594"/>
            <a:chOff x="0" y="0"/>
            <a:chExt cx="9555366" cy="32861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55360" cy="3286126"/>
            </a:xfrm>
            <a:custGeom>
              <a:avLst/>
              <a:gdLst/>
              <a:ahLst/>
              <a:cxnLst/>
              <a:rect r="r" b="b" t="t" l="l"/>
              <a:pathLst>
                <a:path h="3286126" w="9555360">
                  <a:moveTo>
                    <a:pt x="0" y="0"/>
                  </a:moveTo>
                  <a:lnTo>
                    <a:pt x="9555360" y="0"/>
                  </a:lnTo>
                  <a:lnTo>
                    <a:pt x="9555360" y="3286126"/>
                  </a:lnTo>
                  <a:lnTo>
                    <a:pt x="0" y="328612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658" r="0" b="-665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9555366" cy="3371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2"/>
                </a:lnSpc>
              </a:pPr>
              <a:r>
                <a:rPr lang="en-US" sz="25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Multi-Factor Intelligent Major</a:t>
              </a:r>
            </a:p>
            <a:p>
              <a:pPr algn="l">
                <a:lnSpc>
                  <a:spcPts val="3882"/>
                </a:lnSpc>
              </a:pPr>
              <a:r>
                <a:rPr lang="en-US" sz="25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Recommendation System successfully</a:t>
              </a:r>
            </a:p>
            <a:p>
              <a:pPr algn="l">
                <a:lnSpc>
                  <a:spcPts val="3882"/>
                </a:lnSpc>
              </a:pPr>
              <a:r>
                <a:rPr lang="en-US" sz="25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demonstrates how AI can enhance</a:t>
              </a:r>
            </a:p>
            <a:p>
              <a:pPr algn="l">
                <a:lnSpc>
                  <a:spcPts val="3882"/>
                </a:lnSpc>
              </a:pPr>
              <a:r>
                <a:rPr lang="en-US" sz="25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transparency and personalization in</a:t>
              </a:r>
            </a:p>
            <a:p>
              <a:pPr algn="l">
                <a:lnSpc>
                  <a:spcPts val="3882"/>
                </a:lnSpc>
              </a:pPr>
              <a:r>
                <a:rPr lang="en-US" sz="258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academic planning.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43100" y="9244012"/>
            <a:ext cx="16344900" cy="436883"/>
            <a:chOff x="0" y="0"/>
            <a:chExt cx="21793200" cy="5825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93200" cy="582514"/>
            </a:xfrm>
            <a:custGeom>
              <a:avLst/>
              <a:gdLst/>
              <a:ahLst/>
              <a:cxnLst/>
              <a:rect r="r" b="b" t="t" l="l"/>
              <a:pathLst>
                <a:path h="582514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582514"/>
                  </a:lnTo>
                  <a:lnTo>
                    <a:pt x="0" y="58251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78980" r="0" b="-6789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1793200" cy="6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0"/>
                </a:lnSpc>
              </a:pPr>
              <a:r>
                <a:rPr lang="en-US" sz="2475" i="true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"Empowering students to make informed, confident decisions about their academic future."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72762" y="4200525"/>
            <a:ext cx="4560570" cy="325707"/>
            <a:chOff x="0" y="0"/>
            <a:chExt cx="6080760" cy="4342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80760" cy="434280"/>
            </a:xfrm>
            <a:custGeom>
              <a:avLst/>
              <a:gdLst/>
              <a:ahLst/>
              <a:cxnLst/>
              <a:rect r="r" b="b" t="t" l="l"/>
              <a:pathLst>
                <a:path h="434280" w="6080760">
                  <a:moveTo>
                    <a:pt x="0" y="0"/>
                  </a:moveTo>
                  <a:lnTo>
                    <a:pt x="6080760" y="0"/>
                  </a:lnTo>
                  <a:lnTo>
                    <a:pt x="6080760" y="434280"/>
                  </a:lnTo>
                  <a:lnTo>
                    <a:pt x="0" y="4342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2828" r="0" b="-2228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080760" cy="453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ML Integration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72762" y="5743242"/>
            <a:ext cx="7615238" cy="325707"/>
            <a:chOff x="0" y="0"/>
            <a:chExt cx="10153650" cy="4342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53650" cy="434280"/>
            </a:xfrm>
            <a:custGeom>
              <a:avLst/>
              <a:gdLst/>
              <a:ahLst/>
              <a:cxnLst/>
              <a:rect r="r" b="b" t="t" l="l"/>
              <a:pathLst>
                <a:path h="434280" w="10153650">
                  <a:moveTo>
                    <a:pt x="0" y="0"/>
                  </a:moveTo>
                  <a:lnTo>
                    <a:pt x="10153650" y="0"/>
                  </a:lnTo>
                  <a:lnTo>
                    <a:pt x="10153650" y="434280"/>
                  </a:lnTo>
                  <a:lnTo>
                    <a:pt x="0" y="4342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5568" r="0" b="-40556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153650" cy="453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Expanded Majors Database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72762" y="7203243"/>
            <a:ext cx="5486400" cy="342900"/>
            <a:chOff x="0" y="0"/>
            <a:chExt cx="731520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3152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Cloud Deployment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85838" y="800100"/>
            <a:ext cx="5943600" cy="339995"/>
            <a:chOff x="0" y="0"/>
            <a:chExt cx="7924800" cy="4533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924800" cy="453330"/>
            </a:xfrm>
            <a:custGeom>
              <a:avLst/>
              <a:gdLst/>
              <a:ahLst/>
              <a:cxnLst/>
              <a:rect r="r" b="b" t="t" l="l"/>
              <a:pathLst>
                <a:path h="45333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453330"/>
                  </a:lnTo>
                  <a:lnTo>
                    <a:pt x="0" y="45333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0624" r="0" b="-29062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924800" cy="453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7"/>
                </a:lnSpc>
              </a:pPr>
              <a:r>
                <a:rPr lang="en-US" b="true" sz="2250" spc="179">
                  <a:solidFill>
                    <a:srgbClr val="3498D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Final Slide • 07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672762" y="4726257"/>
            <a:ext cx="6553495" cy="544268"/>
            <a:chOff x="0" y="0"/>
            <a:chExt cx="8737994" cy="7256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37996" cy="725686"/>
            </a:xfrm>
            <a:custGeom>
              <a:avLst/>
              <a:gdLst/>
              <a:ahLst/>
              <a:cxnLst/>
              <a:rect r="r" b="b" t="t" l="l"/>
              <a:pathLst>
                <a:path h="725686" w="8737996">
                  <a:moveTo>
                    <a:pt x="0" y="0"/>
                  </a:moveTo>
                  <a:lnTo>
                    <a:pt x="8737996" y="0"/>
                  </a:lnTo>
                  <a:lnTo>
                    <a:pt x="8737996" y="725686"/>
                  </a:lnTo>
                  <a:lnTo>
                    <a:pt x="0" y="72568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4619" r="0" b="-1846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737994" cy="74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2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Incorporate predictive machine learning models for</a:t>
              </a:r>
            </a:p>
            <a:p>
              <a:pPr algn="l">
                <a:lnSpc>
                  <a:spcPts val="2142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greater accuracy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72762" y="6228683"/>
            <a:ext cx="7615238" cy="272129"/>
            <a:chOff x="0" y="0"/>
            <a:chExt cx="10153650" cy="3628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53650" cy="362842"/>
            </a:xfrm>
            <a:custGeom>
              <a:avLst/>
              <a:gdLst/>
              <a:ahLst/>
              <a:cxnLst/>
              <a:rect r="r" b="b" t="t" l="l"/>
              <a:pathLst>
                <a:path h="362842" w="10153650">
                  <a:moveTo>
                    <a:pt x="0" y="0"/>
                  </a:moveTo>
                  <a:lnTo>
                    <a:pt x="10153650" y="0"/>
                  </a:lnTo>
                  <a:lnTo>
                    <a:pt x="10153650" y="362842"/>
                  </a:lnTo>
                  <a:lnTo>
                    <a:pt x="0" y="36284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95263" r="0" b="-4952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0153650" cy="381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2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Cover a broader range of disciplines and career pathways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72762" y="7695600"/>
            <a:ext cx="7615238" cy="272129"/>
            <a:chOff x="0" y="0"/>
            <a:chExt cx="10153650" cy="36283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53650" cy="362842"/>
            </a:xfrm>
            <a:custGeom>
              <a:avLst/>
              <a:gdLst/>
              <a:ahLst/>
              <a:cxnLst/>
              <a:rect r="r" b="b" t="t" l="l"/>
              <a:pathLst>
                <a:path h="362842" w="10153650">
                  <a:moveTo>
                    <a:pt x="0" y="0"/>
                  </a:moveTo>
                  <a:lnTo>
                    <a:pt x="10153650" y="0"/>
                  </a:lnTo>
                  <a:lnTo>
                    <a:pt x="10153650" y="362842"/>
                  </a:lnTo>
                  <a:lnTo>
                    <a:pt x="0" y="36284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95263" r="0" b="-49526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0153650" cy="381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2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Full deployment for scalable, institution-wide access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85900" y="7272338"/>
            <a:ext cx="8063865" cy="337537"/>
            <a:chOff x="0" y="0"/>
            <a:chExt cx="10751820" cy="450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51820" cy="450056"/>
            </a:xfrm>
            <a:custGeom>
              <a:avLst/>
              <a:gdLst/>
              <a:ahLst/>
              <a:cxnLst/>
              <a:rect r="r" b="b" t="t" l="l"/>
              <a:pathLst>
                <a:path h="450056" w="10751820">
                  <a:moveTo>
                    <a:pt x="0" y="0"/>
                  </a:moveTo>
                  <a:lnTo>
                    <a:pt x="10751820" y="0"/>
                  </a:lnTo>
                  <a:lnTo>
                    <a:pt x="10751820" y="450056"/>
                  </a:lnTo>
                  <a:lnTo>
                    <a:pt x="0" y="4500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5497" r="0" b="-41549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751820" cy="49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8"/>
                </a:lnSpc>
              </a:pPr>
              <a:r>
                <a:rPr lang="en-US" sz="191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✔ Multi-dimensional scoring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85900" y="7900988"/>
            <a:ext cx="7040880" cy="317668"/>
            <a:chOff x="0" y="0"/>
            <a:chExt cx="9387840" cy="4235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387840" cy="423564"/>
            </a:xfrm>
            <a:custGeom>
              <a:avLst/>
              <a:gdLst/>
              <a:ahLst/>
              <a:cxnLst/>
              <a:rect r="r" b="b" t="t" l="l"/>
              <a:pathLst>
                <a:path h="423564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23564"/>
                  </a:lnTo>
                  <a:lnTo>
                    <a:pt x="0" y="4235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81865" r="0" b="-38186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9387840" cy="471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2"/>
                </a:lnSpc>
              </a:pPr>
              <a:r>
                <a:rPr lang="en-US" sz="18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✔ Robust input validation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143500" y="7272338"/>
            <a:ext cx="7189470" cy="337537"/>
            <a:chOff x="0" y="0"/>
            <a:chExt cx="9585960" cy="450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85960" cy="450056"/>
            </a:xfrm>
            <a:custGeom>
              <a:avLst/>
              <a:gdLst/>
              <a:ahLst/>
              <a:cxnLst/>
              <a:rect r="r" b="b" t="t" l="l"/>
              <a:pathLst>
                <a:path h="450056" w="9585960">
                  <a:moveTo>
                    <a:pt x="0" y="0"/>
                  </a:moveTo>
                  <a:lnTo>
                    <a:pt x="9585960" y="0"/>
                  </a:lnTo>
                  <a:lnTo>
                    <a:pt x="9585960" y="450056"/>
                  </a:lnTo>
                  <a:lnTo>
                    <a:pt x="0" y="4500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5021" r="0" b="-36502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585960" cy="49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8"/>
                </a:lnSpc>
              </a:pPr>
              <a:r>
                <a:rPr lang="en-US" sz="1912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✔ Explainable AI outputs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85832" y="2520182"/>
            <a:ext cx="5888679" cy="4814221"/>
            <a:chOff x="0" y="0"/>
            <a:chExt cx="7851572" cy="6418961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851521" cy="6418961"/>
            </a:xfrm>
            <a:custGeom>
              <a:avLst/>
              <a:gdLst/>
              <a:ahLst/>
              <a:cxnLst/>
              <a:rect r="r" b="b" t="t" l="l"/>
              <a:pathLst>
                <a:path h="6418961" w="7851521">
                  <a:moveTo>
                    <a:pt x="0" y="0"/>
                  </a:moveTo>
                  <a:lnTo>
                    <a:pt x="7851521" y="0"/>
                  </a:lnTo>
                  <a:lnTo>
                    <a:pt x="7851521" y="6418961"/>
                  </a:lnTo>
                  <a:lnTo>
                    <a:pt x="0" y="6418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2" t="0" r="-1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1800" y="5956097"/>
            <a:ext cx="1078925" cy="874214"/>
            <a:chOff x="0" y="0"/>
            <a:chExt cx="1438567" cy="11656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438529" cy="1165606"/>
            </a:xfrm>
            <a:custGeom>
              <a:avLst/>
              <a:gdLst/>
              <a:ahLst/>
              <a:cxnLst/>
              <a:rect r="r" b="b" t="t" l="l"/>
              <a:pathLst>
                <a:path h="1165606" w="1438529">
                  <a:moveTo>
                    <a:pt x="0" y="0"/>
                  </a:moveTo>
                  <a:lnTo>
                    <a:pt x="1438529" y="0"/>
                  </a:lnTo>
                  <a:lnTo>
                    <a:pt x="1438529" y="1165606"/>
                  </a:lnTo>
                  <a:lnTo>
                    <a:pt x="0" y="1165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9" r="-2" b="-1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00225" y="2328862"/>
            <a:ext cx="9916868" cy="2448525"/>
            <a:chOff x="0" y="0"/>
            <a:chExt cx="13222491" cy="3264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22486" cy="3264694"/>
            </a:xfrm>
            <a:custGeom>
              <a:avLst/>
              <a:gdLst/>
              <a:ahLst/>
              <a:cxnLst/>
              <a:rect r="r" b="b" t="t" l="l"/>
              <a:pathLst>
                <a:path h="3264694" w="13222486">
                  <a:moveTo>
                    <a:pt x="0" y="0"/>
                  </a:moveTo>
                  <a:lnTo>
                    <a:pt x="13222486" y="0"/>
                  </a:lnTo>
                  <a:lnTo>
                    <a:pt x="13222486" y="3264694"/>
                  </a:lnTo>
                  <a:lnTo>
                    <a:pt x="0" y="326469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17" r="0" b="-2891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3222491" cy="3283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39"/>
                </a:lnSpc>
              </a:pPr>
              <a:r>
                <a:rPr lang="en-US" sz="81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Thank You for</a:t>
              </a:r>
            </a:p>
            <a:p>
              <a:pPr algn="l">
                <a:lnSpc>
                  <a:spcPts val="9639"/>
                </a:lnSpc>
              </a:pPr>
              <a:r>
                <a:rPr lang="en-US" sz="81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Your Attention!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71825" y="5943600"/>
            <a:ext cx="15087600" cy="794299"/>
            <a:chOff x="0" y="0"/>
            <a:chExt cx="20116800" cy="10590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6800" cy="1059060"/>
            </a:xfrm>
            <a:custGeom>
              <a:avLst/>
              <a:gdLst/>
              <a:ahLst/>
              <a:cxnLst/>
              <a:rect r="r" b="b" t="t" l="l"/>
              <a:pathLst>
                <a:path h="10590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59060"/>
                  </a:lnTo>
                  <a:lnTo>
                    <a:pt x="0" y="10590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0117" r="0" b="-32011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0116800" cy="1163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55"/>
                </a:lnSpc>
              </a:pPr>
              <a:r>
                <a:rPr lang="en-US" sz="4500" b="true">
                  <a:solidFill>
                    <a:srgbClr val="9999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Questions &amp; Discussion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16100" y="485775"/>
            <a:ext cx="3771900" cy="423939"/>
            <a:chOff x="0" y="0"/>
            <a:chExt cx="5029200" cy="5652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9200" cy="565250"/>
            </a:xfrm>
            <a:custGeom>
              <a:avLst/>
              <a:gdLst/>
              <a:ahLst/>
              <a:cxnLst/>
              <a:rect r="r" b="b" t="t" l="l"/>
              <a:pathLst>
                <a:path h="5652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65250"/>
                  </a:lnTo>
                  <a:lnTo>
                    <a:pt x="0" y="565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3364" r="0" b="-12336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29200" cy="603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58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Final Slide • 08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15012" y="9229725"/>
            <a:ext cx="6600825" cy="663473"/>
            <a:chOff x="0" y="0"/>
            <a:chExt cx="8801100" cy="8846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801100" cy="884634"/>
            </a:xfrm>
            <a:custGeom>
              <a:avLst/>
              <a:gdLst/>
              <a:ahLst/>
              <a:cxnLst/>
              <a:rect r="r" b="b" t="t" l="l"/>
              <a:pathLst>
                <a:path h="884634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884634"/>
                  </a:lnTo>
                  <a:lnTo>
                    <a:pt x="0" y="88463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3854" r="0" b="-14385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801100" cy="913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3"/>
                </a:lnSpc>
              </a:pPr>
              <a:r>
                <a:rPr lang="en-US" sz="202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Arwa Alshaikh • Farah Alnaqib • Maysoon Idris</a:t>
              </a:r>
            </a:p>
            <a:p>
              <a:pPr algn="ctr">
                <a:lnSpc>
                  <a:spcPts val="2613"/>
                </a:lnSpc>
              </a:pPr>
              <a:r>
                <a:rPr lang="en-US" sz="202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Instructor: Dr. Naila Marir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DAHH8NBeqqA</dc:identifier>
  <dcterms:modified xsi:type="dcterms:W3CDTF">2011-08-01T06:04:30Z</dcterms:modified>
  <cp:revision>1</cp:revision>
  <dc:title>Multi-Factor Intelligent Major Recommendation System.pptx</dc:title>
</cp:coreProperties>
</file>